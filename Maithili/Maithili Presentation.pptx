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8" r:id="rId4"/>
    <p:sldId id="259" r:id="rId5"/>
    <p:sldId id="272" r:id="rId6"/>
    <p:sldId id="273" r:id="rId7"/>
    <p:sldId id="274" r:id="rId8"/>
    <p:sldId id="275" r:id="rId9"/>
    <p:sldId id="276" r:id="rId10"/>
    <p:sldId id="277" r:id="rId11"/>
    <p:sldId id="278"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75338B-9B67-48EE-88AC-D5A1EFFCA909}" v="48" dt="2025-09-25T06:50:20.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thili Phulari" userId="89e0715945a314a4" providerId="LiveId" clId="{C9D19301-0597-460E-BBAA-39847E90BAA7}"/>
    <pc:docChg chg="undo custSel addSld delSld modSld">
      <pc:chgData name="Maithili Phulari" userId="89e0715945a314a4" providerId="LiveId" clId="{C9D19301-0597-460E-BBAA-39847E90BAA7}" dt="2025-09-25T06:50:49.362" v="681" actId="113"/>
      <pc:docMkLst>
        <pc:docMk/>
      </pc:docMkLst>
      <pc:sldChg chg="modSp mod modTransition">
        <pc:chgData name="Maithili Phulari" userId="89e0715945a314a4" providerId="LiveId" clId="{C9D19301-0597-460E-BBAA-39847E90BAA7}" dt="2025-09-25T06:50:49.362" v="681" actId="113"/>
        <pc:sldMkLst>
          <pc:docMk/>
          <pc:sldMk cId="1622484519" sldId="256"/>
        </pc:sldMkLst>
        <pc:spChg chg="mod">
          <ac:chgData name="Maithili Phulari" userId="89e0715945a314a4" providerId="LiveId" clId="{C9D19301-0597-460E-BBAA-39847E90BAA7}" dt="2025-09-25T06:45:13.803" v="572" actId="122"/>
          <ac:spMkLst>
            <pc:docMk/>
            <pc:sldMk cId="1622484519" sldId="256"/>
            <ac:spMk id="2" creationId="{331A5C05-1A8E-3750-5653-D7B8D4C57EB5}"/>
          </ac:spMkLst>
        </pc:spChg>
        <pc:spChg chg="mod">
          <ac:chgData name="Maithili Phulari" userId="89e0715945a314a4" providerId="LiveId" clId="{C9D19301-0597-460E-BBAA-39847E90BAA7}" dt="2025-09-25T06:50:49.362" v="681" actId="113"/>
          <ac:spMkLst>
            <pc:docMk/>
            <pc:sldMk cId="1622484519" sldId="256"/>
            <ac:spMk id="3" creationId="{735E7183-381C-ADB0-C048-FD6D37F0BDDB}"/>
          </ac:spMkLst>
        </pc:spChg>
      </pc:sldChg>
      <pc:sldChg chg="addSp delSp modSp mod modTransition">
        <pc:chgData name="Maithili Phulari" userId="89e0715945a314a4" providerId="LiveId" clId="{C9D19301-0597-460E-BBAA-39847E90BAA7}" dt="2025-09-25T06:49:53.396" v="674"/>
        <pc:sldMkLst>
          <pc:docMk/>
          <pc:sldMk cId="3743766314" sldId="257"/>
        </pc:sldMkLst>
        <pc:spChg chg="mod">
          <ac:chgData name="Maithili Phulari" userId="89e0715945a314a4" providerId="LiveId" clId="{C9D19301-0597-460E-BBAA-39847E90BAA7}" dt="2025-09-25T06:41:13.795" v="425"/>
          <ac:spMkLst>
            <pc:docMk/>
            <pc:sldMk cId="3743766314" sldId="257"/>
            <ac:spMk id="2" creationId="{3891E1D3-5BA1-61F0-A293-FDC449EB9789}"/>
          </ac:spMkLst>
        </pc:spChg>
        <pc:spChg chg="add del mod">
          <ac:chgData name="Maithili Phulari" userId="89e0715945a314a4" providerId="LiveId" clId="{C9D19301-0597-460E-BBAA-39847E90BAA7}" dt="2025-09-25T06:41:13.795" v="425"/>
          <ac:spMkLst>
            <pc:docMk/>
            <pc:sldMk cId="3743766314" sldId="257"/>
            <ac:spMk id="3" creationId="{D608637D-ED1B-C680-0F3B-3DB92305B687}"/>
          </ac:spMkLst>
        </pc:spChg>
        <pc:picChg chg="add mod">
          <ac:chgData name="Maithili Phulari" userId="89e0715945a314a4" providerId="LiveId" clId="{C9D19301-0597-460E-BBAA-39847E90BAA7}" dt="2025-09-25T06:20:46.040" v="36" actId="931"/>
          <ac:picMkLst>
            <pc:docMk/>
            <pc:sldMk cId="3743766314" sldId="257"/>
            <ac:picMk id="5" creationId="{E6D2BD3E-5738-4D02-C4FE-53D72AD5BC6D}"/>
          </ac:picMkLst>
        </pc:picChg>
        <pc:picChg chg="add mod">
          <ac:chgData name="Maithili Phulari" userId="89e0715945a314a4" providerId="LiveId" clId="{C9D19301-0597-460E-BBAA-39847E90BAA7}" dt="2025-09-25T06:39:35.183" v="405" actId="1076"/>
          <ac:picMkLst>
            <pc:docMk/>
            <pc:sldMk cId="3743766314" sldId="257"/>
            <ac:picMk id="6" creationId="{5DE7BB7A-5947-8400-65A5-51FE69F4AD25}"/>
          </ac:picMkLst>
        </pc:picChg>
      </pc:sldChg>
      <pc:sldChg chg="addSp delSp modSp new mod modTransition">
        <pc:chgData name="Maithili Phulari" userId="89e0715945a314a4" providerId="LiveId" clId="{C9D19301-0597-460E-BBAA-39847E90BAA7}" dt="2025-09-25T06:50:00.715" v="675"/>
        <pc:sldMkLst>
          <pc:docMk/>
          <pc:sldMk cId="3817723890" sldId="258"/>
        </pc:sldMkLst>
        <pc:spChg chg="mod">
          <ac:chgData name="Maithili Phulari" userId="89e0715945a314a4" providerId="LiveId" clId="{C9D19301-0597-460E-BBAA-39847E90BAA7}" dt="2025-09-25T06:41:13.795" v="425"/>
          <ac:spMkLst>
            <pc:docMk/>
            <pc:sldMk cId="3817723890" sldId="258"/>
            <ac:spMk id="2" creationId="{7338615D-DFB2-8C15-14D4-3A9A3584FACD}"/>
          </ac:spMkLst>
        </pc:spChg>
        <pc:spChg chg="mod">
          <ac:chgData name="Maithili Phulari" userId="89e0715945a314a4" providerId="LiveId" clId="{C9D19301-0597-460E-BBAA-39847E90BAA7}" dt="2025-09-25T06:41:04.796" v="423" actId="27636"/>
          <ac:spMkLst>
            <pc:docMk/>
            <pc:sldMk cId="3817723890" sldId="258"/>
            <ac:spMk id="3" creationId="{CC347B77-09BB-7574-FF40-E7B6F6E78FD6}"/>
          </ac:spMkLst>
        </pc:spChg>
        <pc:graphicFrameChg chg="add del modGraphic">
          <ac:chgData name="Maithili Phulari" userId="89e0715945a314a4" providerId="LiveId" clId="{C9D19301-0597-460E-BBAA-39847E90BAA7}" dt="2025-09-25T06:29:13.326" v="229" actId="478"/>
          <ac:graphicFrameMkLst>
            <pc:docMk/>
            <pc:sldMk cId="3817723890" sldId="258"/>
            <ac:graphicFrameMk id="4" creationId="{82478ABE-D24C-A2EA-7895-2B9CFC45C32B}"/>
          </ac:graphicFrameMkLst>
        </pc:graphicFrameChg>
        <pc:picChg chg="add mod">
          <ac:chgData name="Maithili Phulari" userId="89e0715945a314a4" providerId="LiveId" clId="{C9D19301-0597-460E-BBAA-39847E90BAA7}" dt="2025-09-25T06:39:49.010" v="408" actId="1076"/>
          <ac:picMkLst>
            <pc:docMk/>
            <pc:sldMk cId="3817723890" sldId="258"/>
            <ac:picMk id="5" creationId="{1C8E5042-E1BE-3F26-3CBC-24DA9E4E9886}"/>
          </ac:picMkLst>
        </pc:picChg>
      </pc:sldChg>
      <pc:sldChg chg="addSp modSp new mod modTransition">
        <pc:chgData name="Maithili Phulari" userId="89e0715945a314a4" providerId="LiveId" clId="{C9D19301-0597-460E-BBAA-39847E90BAA7}" dt="2025-09-25T06:50:05.358" v="676"/>
        <pc:sldMkLst>
          <pc:docMk/>
          <pc:sldMk cId="1513817889" sldId="259"/>
        </pc:sldMkLst>
        <pc:spChg chg="mod">
          <ac:chgData name="Maithili Phulari" userId="89e0715945a314a4" providerId="LiveId" clId="{C9D19301-0597-460E-BBAA-39847E90BAA7}" dt="2025-09-25T06:41:13.795" v="425"/>
          <ac:spMkLst>
            <pc:docMk/>
            <pc:sldMk cId="1513817889" sldId="259"/>
            <ac:spMk id="2" creationId="{A12A0961-F49D-FDF9-ADEC-F460711BE21C}"/>
          </ac:spMkLst>
        </pc:spChg>
        <pc:spChg chg="mod">
          <ac:chgData name="Maithili Phulari" userId="89e0715945a314a4" providerId="LiveId" clId="{C9D19301-0597-460E-BBAA-39847E90BAA7}" dt="2025-09-25T06:41:13.795" v="425"/>
          <ac:spMkLst>
            <pc:docMk/>
            <pc:sldMk cId="1513817889" sldId="259"/>
            <ac:spMk id="3" creationId="{6A5ECC5E-2F1B-AFD3-4AB3-C9A93E558819}"/>
          </ac:spMkLst>
        </pc:spChg>
        <pc:picChg chg="add mod">
          <ac:chgData name="Maithili Phulari" userId="89e0715945a314a4" providerId="LiveId" clId="{C9D19301-0597-460E-BBAA-39847E90BAA7}" dt="2025-09-25T06:40:02.069" v="411" actId="1076"/>
          <ac:picMkLst>
            <pc:docMk/>
            <pc:sldMk cId="1513817889" sldId="259"/>
            <ac:picMk id="4" creationId="{281AD421-FF67-C45A-D6E6-F23976D2737B}"/>
          </ac:picMkLst>
        </pc:picChg>
      </pc:sldChg>
      <pc:sldChg chg="modSp new modTransition">
        <pc:chgData name="Maithili Phulari" userId="89e0715945a314a4" providerId="LiveId" clId="{C9D19301-0597-460E-BBAA-39847E90BAA7}" dt="2025-09-25T06:50:12.118" v="678"/>
        <pc:sldMkLst>
          <pc:docMk/>
          <pc:sldMk cId="680249340" sldId="260"/>
        </pc:sldMkLst>
        <pc:spChg chg="mod">
          <ac:chgData name="Maithili Phulari" userId="89e0715945a314a4" providerId="LiveId" clId="{C9D19301-0597-460E-BBAA-39847E90BAA7}" dt="2025-09-25T06:41:13.795" v="425"/>
          <ac:spMkLst>
            <pc:docMk/>
            <pc:sldMk cId="680249340" sldId="260"/>
            <ac:spMk id="2" creationId="{223975D7-4197-72A9-A724-2F82D3006A41}"/>
          </ac:spMkLst>
        </pc:spChg>
        <pc:spChg chg="mod">
          <ac:chgData name="Maithili Phulari" userId="89e0715945a314a4" providerId="LiveId" clId="{C9D19301-0597-460E-BBAA-39847E90BAA7}" dt="2025-09-25T06:41:13.795" v="425"/>
          <ac:spMkLst>
            <pc:docMk/>
            <pc:sldMk cId="680249340" sldId="260"/>
            <ac:spMk id="3" creationId="{DC363494-BE91-BE4C-C523-3F6FAFC32CC0}"/>
          </ac:spMkLst>
        </pc:spChg>
      </pc:sldChg>
      <pc:sldChg chg="addSp modSp new mod modTransition">
        <pc:chgData name="Maithili Phulari" userId="89e0715945a314a4" providerId="LiveId" clId="{C9D19301-0597-460E-BBAA-39847E90BAA7}" dt="2025-09-25T06:50:16.544" v="679"/>
        <pc:sldMkLst>
          <pc:docMk/>
          <pc:sldMk cId="2088370320" sldId="261"/>
        </pc:sldMkLst>
        <pc:spChg chg="mod">
          <ac:chgData name="Maithili Phulari" userId="89e0715945a314a4" providerId="LiveId" clId="{C9D19301-0597-460E-BBAA-39847E90BAA7}" dt="2025-09-25T06:41:13.795" v="425"/>
          <ac:spMkLst>
            <pc:docMk/>
            <pc:sldMk cId="2088370320" sldId="261"/>
            <ac:spMk id="2" creationId="{F25F788F-CAF6-21D2-4D1C-8F696539E4A9}"/>
          </ac:spMkLst>
        </pc:spChg>
        <pc:spChg chg="mod">
          <ac:chgData name="Maithili Phulari" userId="89e0715945a314a4" providerId="LiveId" clId="{C9D19301-0597-460E-BBAA-39847E90BAA7}" dt="2025-09-25T06:41:13.795" v="425"/>
          <ac:spMkLst>
            <pc:docMk/>
            <pc:sldMk cId="2088370320" sldId="261"/>
            <ac:spMk id="3" creationId="{545D3038-FE6B-7DDF-DD20-551D4386B228}"/>
          </ac:spMkLst>
        </pc:spChg>
        <pc:picChg chg="add mod">
          <ac:chgData name="Maithili Phulari" userId="89e0715945a314a4" providerId="LiveId" clId="{C9D19301-0597-460E-BBAA-39847E90BAA7}" dt="2025-09-25T06:40:16.791" v="414" actId="1076"/>
          <ac:picMkLst>
            <pc:docMk/>
            <pc:sldMk cId="2088370320" sldId="261"/>
            <ac:picMk id="4" creationId="{AF6852F3-A036-D2E7-E0D6-C83176F64D45}"/>
          </ac:picMkLst>
        </pc:picChg>
      </pc:sldChg>
      <pc:sldChg chg="modSp new mod modTransition">
        <pc:chgData name="Maithili Phulari" userId="89e0715945a314a4" providerId="LiveId" clId="{C9D19301-0597-460E-BBAA-39847E90BAA7}" dt="2025-09-25T06:50:20.084" v="680"/>
        <pc:sldMkLst>
          <pc:docMk/>
          <pc:sldMk cId="1141841452" sldId="262"/>
        </pc:sldMkLst>
        <pc:spChg chg="mod">
          <ac:chgData name="Maithili Phulari" userId="89e0715945a314a4" providerId="LiveId" clId="{C9D19301-0597-460E-BBAA-39847E90BAA7}" dt="2025-09-25T06:37:55.167" v="401" actId="1076"/>
          <ac:spMkLst>
            <pc:docMk/>
            <pc:sldMk cId="1141841452" sldId="262"/>
            <ac:spMk id="2" creationId="{2DA59746-141F-2D9F-D297-13C6333E9338}"/>
          </ac:spMkLst>
        </pc:spChg>
      </pc:sldChg>
      <pc:sldChg chg="new del">
        <pc:chgData name="Maithili Phulari" userId="89e0715945a314a4" providerId="LiveId" clId="{C9D19301-0597-460E-BBAA-39847E90BAA7}" dt="2025-09-25T06:37:12.163" v="385" actId="47"/>
        <pc:sldMkLst>
          <pc:docMk/>
          <pc:sldMk cId="3577086076"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B12497-D072-4C23-AA62-3FE95186E344}"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2CD91A-6A29-4117-9EF9-7B074F2FFF6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384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12497-D072-4C23-AA62-3FE95186E344}"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3017887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B12497-D072-4C23-AA62-3FE95186E344}"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2CD91A-6A29-4117-9EF9-7B074F2FFF6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9550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12497-D072-4C23-AA62-3FE95186E344}"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423231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B12497-D072-4C23-AA62-3FE95186E344}" type="datetimeFigureOut">
              <a:rPr lang="en-IN" smtClean="0"/>
              <a:t>01-11-2025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2422203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B12497-D072-4C23-AA62-3FE95186E344}" type="datetimeFigureOut">
              <a:rPr lang="en-IN" smtClean="0"/>
              <a:t>01-11-2025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528877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5B12497-D072-4C23-AA62-3FE95186E344}" type="datetimeFigureOut">
              <a:rPr lang="en-IN" smtClean="0"/>
              <a:t>01-11-2025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1164742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5B12497-D072-4C23-AA62-3FE95186E344}" type="datetimeFigureOut">
              <a:rPr lang="en-IN" smtClean="0"/>
              <a:t>01-11-2025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2CD91A-6A29-4117-9EF9-7B074F2FFF64}" type="slidenum">
              <a:rPr lang="en-IN" smtClean="0"/>
              <a:t>‹#›</a:t>
            </a:fld>
            <a:endParaRPr lang="en-IN"/>
          </a:p>
        </p:txBody>
      </p:sp>
    </p:spTree>
    <p:extLst>
      <p:ext uri="{BB962C8B-B14F-4D97-AF65-F5344CB8AC3E}">
        <p14:creationId xmlns:p14="http://schemas.microsoft.com/office/powerpoint/2010/main" val="220168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B12497-D072-4C23-AA62-3FE95186E344}"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313636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12497-D072-4C23-AA62-3FE95186E344}"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61207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12497-D072-4C23-AA62-3FE95186E344}"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2CD91A-6A29-4117-9EF9-7B074F2FFF64}" type="slidenum">
              <a:rPr lang="en-IN" smtClean="0"/>
              <a:t>‹#›</a:t>
            </a:fld>
            <a:endParaRPr lang="en-IN"/>
          </a:p>
        </p:txBody>
      </p:sp>
    </p:spTree>
    <p:extLst>
      <p:ext uri="{BB962C8B-B14F-4D97-AF65-F5344CB8AC3E}">
        <p14:creationId xmlns:p14="http://schemas.microsoft.com/office/powerpoint/2010/main" val="131901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5B12497-D072-4C23-AA62-3FE95186E344}" type="datetimeFigureOut">
              <a:rPr lang="en-IN" smtClean="0"/>
              <a:t>01-11-2025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2CD91A-6A29-4117-9EF9-7B074F2FFF6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15886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A5C05-1A8E-3750-5653-D7B8D4C57EB5}"/>
              </a:ext>
            </a:extLst>
          </p:cNvPr>
          <p:cNvSpPr>
            <a:spLocks noGrp="1"/>
          </p:cNvSpPr>
          <p:nvPr>
            <p:ph type="ctrTitle"/>
          </p:nvPr>
        </p:nvSpPr>
        <p:spPr>
          <a:xfrm>
            <a:off x="1524000" y="1459217"/>
            <a:ext cx="9144000" cy="953325"/>
          </a:xfrm>
        </p:spPr>
        <p:txBody>
          <a:bodyPr>
            <a:normAutofit fontScale="90000"/>
          </a:bodyPr>
          <a:lstStyle/>
          <a:p>
            <a:pPr algn="ctr"/>
            <a:r>
              <a:rPr lang="en-US" b="1" dirty="0">
                <a:latin typeface="+mn-lt"/>
              </a:rPr>
              <a:t> Infosys Food Trends</a:t>
            </a:r>
            <a:endParaRPr lang="en-IN" b="1" dirty="0">
              <a:latin typeface="+mn-lt"/>
            </a:endParaRPr>
          </a:p>
        </p:txBody>
      </p:sp>
      <p:sp>
        <p:nvSpPr>
          <p:cNvPr id="3" name="Subtitle 2">
            <a:extLst>
              <a:ext uri="{FF2B5EF4-FFF2-40B4-BE49-F238E27FC236}">
                <a16:creationId xmlns:a16="http://schemas.microsoft.com/office/drawing/2014/main" id="{735E7183-381C-ADB0-C048-FD6D37F0BDDB}"/>
              </a:ext>
            </a:extLst>
          </p:cNvPr>
          <p:cNvSpPr>
            <a:spLocks noGrp="1"/>
          </p:cNvSpPr>
          <p:nvPr>
            <p:ph type="subTitle" idx="1"/>
          </p:nvPr>
        </p:nvSpPr>
        <p:spPr>
          <a:xfrm>
            <a:off x="1524000" y="2999232"/>
            <a:ext cx="9144000" cy="1446227"/>
          </a:xfrm>
        </p:spPr>
        <p:txBody>
          <a:bodyPr>
            <a:normAutofit/>
          </a:bodyPr>
          <a:lstStyle/>
          <a:p>
            <a:pPr marL="342900" indent="-342900" algn="l">
              <a:buFont typeface="Wingdings" panose="05000000000000000000" pitchFamily="2" charset="2"/>
              <a:buChar char="v"/>
            </a:pPr>
            <a:r>
              <a:rPr lang="en-US" dirty="0"/>
              <a:t>Exploring food choices to design smarter, sustainable dining solutions</a:t>
            </a:r>
          </a:p>
          <a:p>
            <a:pPr marL="342900" indent="-342900" algn="l">
              <a:buFont typeface="Wingdings" panose="05000000000000000000" pitchFamily="2" charset="2"/>
              <a:buChar char="v"/>
            </a:pPr>
            <a:endParaRPr lang="en-IN" sz="2000" dirty="0">
              <a:latin typeface="+mn-lt"/>
            </a:endParaRPr>
          </a:p>
        </p:txBody>
      </p:sp>
      <p:sp>
        <p:nvSpPr>
          <p:cNvPr id="4" name="TextBox 3">
            <a:extLst>
              <a:ext uri="{FF2B5EF4-FFF2-40B4-BE49-F238E27FC236}">
                <a16:creationId xmlns:a16="http://schemas.microsoft.com/office/drawing/2014/main" id="{567A3D65-9D47-3CA6-CD43-B5E5DAC61C79}"/>
              </a:ext>
            </a:extLst>
          </p:cNvPr>
          <p:cNvSpPr txBox="1"/>
          <p:nvPr/>
        </p:nvSpPr>
        <p:spPr>
          <a:xfrm>
            <a:off x="5596127" y="349308"/>
            <a:ext cx="2478024" cy="523220"/>
          </a:xfrm>
          <a:prstGeom prst="rect">
            <a:avLst/>
          </a:prstGeom>
          <a:noFill/>
        </p:spPr>
        <p:txBody>
          <a:bodyPr wrap="square" rtlCol="0">
            <a:spAutoFit/>
          </a:bodyPr>
          <a:lstStyle/>
          <a:p>
            <a:r>
              <a:rPr lang="en-US" sz="2800" dirty="0"/>
              <a:t>INTERNSHIP 6.0</a:t>
            </a:r>
            <a:endParaRPr lang="en-IN" sz="2800" dirty="0"/>
          </a:p>
        </p:txBody>
      </p:sp>
      <p:pic>
        <p:nvPicPr>
          <p:cNvPr id="6" name="Picture 5">
            <a:extLst>
              <a:ext uri="{FF2B5EF4-FFF2-40B4-BE49-F238E27FC236}">
                <a16:creationId xmlns:a16="http://schemas.microsoft.com/office/drawing/2014/main" id="{85BFCBC0-2995-4E36-09CA-32AB7F26B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2776" y="20156"/>
            <a:ext cx="1673351" cy="1181524"/>
          </a:xfrm>
          <a:prstGeom prst="rect">
            <a:avLst/>
          </a:prstGeom>
        </p:spPr>
      </p:pic>
      <p:sp>
        <p:nvSpPr>
          <p:cNvPr id="5" name="TextBox 4">
            <a:extLst>
              <a:ext uri="{FF2B5EF4-FFF2-40B4-BE49-F238E27FC236}">
                <a16:creationId xmlns:a16="http://schemas.microsoft.com/office/drawing/2014/main" id="{C2B4F444-CC6C-F8DE-369C-0422106627BA}"/>
              </a:ext>
            </a:extLst>
          </p:cNvPr>
          <p:cNvSpPr txBox="1"/>
          <p:nvPr/>
        </p:nvSpPr>
        <p:spPr>
          <a:xfrm>
            <a:off x="8412480" y="4445459"/>
            <a:ext cx="3044952" cy="923330"/>
          </a:xfrm>
          <a:prstGeom prst="rect">
            <a:avLst/>
          </a:prstGeom>
          <a:noFill/>
        </p:spPr>
        <p:txBody>
          <a:bodyPr wrap="square" rtlCol="0">
            <a:spAutoFit/>
          </a:bodyPr>
          <a:lstStyle/>
          <a:p>
            <a:r>
              <a:rPr lang="en-US" dirty="0"/>
              <a:t>Presented by:</a:t>
            </a:r>
          </a:p>
          <a:p>
            <a:r>
              <a:rPr lang="en-US" b="1" dirty="0"/>
              <a:t>Maithili Phulari (Group 3)</a:t>
            </a:r>
          </a:p>
          <a:p>
            <a:endParaRPr lang="en-IN" dirty="0"/>
          </a:p>
        </p:txBody>
      </p:sp>
    </p:spTree>
    <p:extLst>
      <p:ext uri="{BB962C8B-B14F-4D97-AF65-F5344CB8AC3E}">
        <p14:creationId xmlns:p14="http://schemas.microsoft.com/office/powerpoint/2010/main" val="16224845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E1D3-5BA1-61F0-A293-FDC449EB9789}"/>
              </a:ext>
            </a:extLst>
          </p:cNvPr>
          <p:cNvSpPr>
            <a:spLocks noGrp="1"/>
          </p:cNvSpPr>
          <p:nvPr>
            <p:ph type="title"/>
          </p:nvPr>
        </p:nvSpPr>
        <p:spPr/>
        <p:txBody>
          <a:bodyPr/>
          <a:lstStyle/>
          <a:p>
            <a:pPr algn="ctr"/>
            <a:r>
              <a:rPr lang="en-US" dirty="0"/>
              <a:t>Project Overview</a:t>
            </a:r>
            <a:endParaRPr lang="en-IN" dirty="0"/>
          </a:p>
        </p:txBody>
      </p:sp>
      <p:sp>
        <p:nvSpPr>
          <p:cNvPr id="3" name="Content Placeholder 2">
            <a:extLst>
              <a:ext uri="{FF2B5EF4-FFF2-40B4-BE49-F238E27FC236}">
                <a16:creationId xmlns:a16="http://schemas.microsoft.com/office/drawing/2014/main" id="{D608637D-ED1B-C680-0F3B-3DB92305B687}"/>
              </a:ext>
            </a:extLst>
          </p:cNvPr>
          <p:cNvSpPr>
            <a:spLocks noGrp="1"/>
          </p:cNvSpPr>
          <p:nvPr>
            <p:ph idx="1"/>
          </p:nvPr>
        </p:nvSpPr>
        <p:spPr>
          <a:xfrm>
            <a:off x="1333501" y="1845734"/>
            <a:ext cx="9675876" cy="4023360"/>
          </a:xfrm>
        </p:spPr>
        <p:txBody>
          <a:bodyPr>
            <a:normAutofit/>
          </a:bodyPr>
          <a:lstStyle/>
          <a:p>
            <a:endParaRPr lang="en-US" dirty="0"/>
          </a:p>
          <a:p>
            <a:pPr>
              <a:buFont typeface="Wingdings" panose="05000000000000000000" pitchFamily="2" charset="2"/>
              <a:buChar char="v"/>
            </a:pPr>
            <a:r>
              <a:rPr lang="en-US" sz="1800" dirty="0">
                <a:latin typeface="+mj-lt"/>
              </a:rPr>
              <a:t> The Smart Food Suggestion Dashboard aims to analyze food-related data and help users maintain balanced diets through meaningful insights.</a:t>
            </a:r>
          </a:p>
          <a:p>
            <a:pPr>
              <a:buFont typeface="Wingdings" panose="05000000000000000000" pitchFamily="2" charset="2"/>
              <a:buChar char="v"/>
            </a:pPr>
            <a:r>
              <a:rPr lang="en-US" sz="1800" dirty="0">
                <a:latin typeface="+mj-lt"/>
              </a:rPr>
              <a:t>Key Focus Areas : </a:t>
            </a:r>
          </a:p>
          <a:p>
            <a:pPr marL="0" indent="0">
              <a:buNone/>
            </a:pPr>
            <a:r>
              <a:rPr lang="en-US" sz="1800" dirty="0">
                <a:latin typeface="+mj-lt"/>
              </a:rPr>
              <a:t>  </a:t>
            </a:r>
            <a:r>
              <a:rPr lang="en-US" sz="1800" b="1" dirty="0">
                <a:latin typeface="+mj-lt"/>
              </a:rPr>
              <a:t> </a:t>
            </a:r>
            <a:r>
              <a:rPr lang="en-US" sz="1800" b="1" dirty="0">
                <a:latin typeface="Segoe UI Light" panose="020B0502040204020203" pitchFamily="34" charset="0"/>
                <a:cs typeface="Segoe UI Light" panose="020B0502040204020203" pitchFamily="34" charset="0"/>
              </a:rPr>
              <a:t>Health Awareness: </a:t>
            </a:r>
            <a:r>
              <a:rPr lang="en-US" sz="1800" dirty="0">
                <a:latin typeface="Segoe UI Light" panose="020B0502040204020203" pitchFamily="34" charset="0"/>
                <a:cs typeface="Segoe UI Light" panose="020B0502040204020203" pitchFamily="34" charset="0"/>
              </a:rPr>
              <a:t>Understanding calorie and nutrient intake patterns.</a:t>
            </a:r>
          </a:p>
          <a:p>
            <a:pPr marL="0" indent="0">
              <a:buNone/>
            </a:pPr>
            <a:r>
              <a:rPr lang="en-US" sz="1800" dirty="0">
                <a:latin typeface="Segoe UI Light" panose="020B0502040204020203" pitchFamily="34" charset="0"/>
                <a:cs typeface="Segoe UI Light" panose="020B0502040204020203" pitchFamily="34" charset="0"/>
              </a:rPr>
              <a:t>  </a:t>
            </a:r>
            <a:r>
              <a:rPr lang="en-US" sz="1800" b="1" dirty="0">
                <a:latin typeface="Segoe UI Light" panose="020B0502040204020203" pitchFamily="34" charset="0"/>
                <a:cs typeface="Segoe UI Light" panose="020B0502040204020203" pitchFamily="34" charset="0"/>
              </a:rPr>
              <a:t>Smart Suggestions: </a:t>
            </a:r>
            <a:r>
              <a:rPr lang="en-US" sz="1800" dirty="0">
                <a:latin typeface="Segoe UI Light" panose="020B0502040204020203" pitchFamily="34" charset="0"/>
                <a:cs typeface="Segoe UI Light" panose="020B0502040204020203" pitchFamily="34" charset="0"/>
              </a:rPr>
              <a:t>Providing meal recommendations based on lifestyle and dietary preferences.</a:t>
            </a:r>
          </a:p>
          <a:p>
            <a:pPr marL="0" indent="0">
              <a:buNone/>
            </a:pPr>
            <a:r>
              <a:rPr lang="en-US" sz="1800" dirty="0">
                <a:latin typeface="Segoe UI Light" panose="020B0502040204020203" pitchFamily="34" charset="0"/>
                <a:cs typeface="Segoe UI Light" panose="020B0502040204020203" pitchFamily="34" charset="0"/>
              </a:rPr>
              <a:t>  </a:t>
            </a:r>
            <a:r>
              <a:rPr lang="en-US" sz="1800" b="1" dirty="0">
                <a:latin typeface="Segoe UI Light" panose="020B0502040204020203" pitchFamily="34" charset="0"/>
                <a:cs typeface="Segoe UI Light" panose="020B0502040204020203" pitchFamily="34" charset="0"/>
              </a:rPr>
              <a:t>Data Insights: </a:t>
            </a:r>
            <a:r>
              <a:rPr lang="en-US" sz="1800" dirty="0">
                <a:latin typeface="Segoe UI Light" panose="020B0502040204020203" pitchFamily="34" charset="0"/>
                <a:cs typeface="Segoe UI Light" panose="020B0502040204020203" pitchFamily="34" charset="0"/>
              </a:rPr>
              <a:t>Using Power BI to identify key food trends and health metrics.</a:t>
            </a:r>
          </a:p>
          <a:p>
            <a:endParaRPr lang="en-US" dirty="0"/>
          </a:p>
        </p:txBody>
      </p:sp>
      <p:pic>
        <p:nvPicPr>
          <p:cNvPr id="6" name="Picture 5">
            <a:extLst>
              <a:ext uri="{FF2B5EF4-FFF2-40B4-BE49-F238E27FC236}">
                <a16:creationId xmlns:a16="http://schemas.microsoft.com/office/drawing/2014/main" id="{5DE7BB7A-5947-8400-65A5-51FE69F4AD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7124" y="0"/>
            <a:ext cx="1673351" cy="1181524"/>
          </a:xfrm>
          <a:prstGeom prst="rect">
            <a:avLst/>
          </a:prstGeom>
        </p:spPr>
      </p:pic>
      <p:sp>
        <p:nvSpPr>
          <p:cNvPr id="4" name="TextBox 3">
            <a:extLst>
              <a:ext uri="{FF2B5EF4-FFF2-40B4-BE49-F238E27FC236}">
                <a16:creationId xmlns:a16="http://schemas.microsoft.com/office/drawing/2014/main" id="{2A36C2E1-3FED-1822-7104-392619CC55EB}"/>
              </a:ext>
            </a:extLst>
          </p:cNvPr>
          <p:cNvSpPr txBox="1"/>
          <p:nvPr/>
        </p:nvSpPr>
        <p:spPr>
          <a:xfrm>
            <a:off x="291085" y="267596"/>
            <a:ext cx="1042416" cy="646331"/>
          </a:xfrm>
          <a:prstGeom prst="rect">
            <a:avLst/>
          </a:prstGeom>
          <a:noFill/>
        </p:spPr>
        <p:txBody>
          <a:bodyPr wrap="square" rtlCol="0">
            <a:spAutoFit/>
          </a:bodyPr>
          <a:lstStyle/>
          <a:p>
            <a:r>
              <a:rPr lang="en-US" b="1" dirty="0"/>
              <a:t>Group 3</a:t>
            </a:r>
          </a:p>
          <a:p>
            <a:endParaRPr lang="en-IN" dirty="0"/>
          </a:p>
        </p:txBody>
      </p:sp>
    </p:spTree>
    <p:extLst>
      <p:ext uri="{BB962C8B-B14F-4D97-AF65-F5344CB8AC3E}">
        <p14:creationId xmlns:p14="http://schemas.microsoft.com/office/powerpoint/2010/main" val="37437663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8615D-DFB2-8C15-14D4-3A9A3584FACD}"/>
              </a:ext>
            </a:extLst>
          </p:cNvPr>
          <p:cNvSpPr>
            <a:spLocks noGrp="1"/>
          </p:cNvSpPr>
          <p:nvPr>
            <p:ph type="title"/>
          </p:nvPr>
        </p:nvSpPr>
        <p:spPr/>
        <p:txBody>
          <a:bodyPr/>
          <a:lstStyle/>
          <a:p>
            <a:pPr algn="ctr"/>
            <a:r>
              <a:rPr lang="en-US" dirty="0"/>
              <a:t>Project Goals</a:t>
            </a:r>
            <a:endParaRPr lang="en-IN" dirty="0"/>
          </a:p>
        </p:txBody>
      </p:sp>
      <p:sp>
        <p:nvSpPr>
          <p:cNvPr id="3" name="Content Placeholder 2">
            <a:extLst>
              <a:ext uri="{FF2B5EF4-FFF2-40B4-BE49-F238E27FC236}">
                <a16:creationId xmlns:a16="http://schemas.microsoft.com/office/drawing/2014/main" id="{CC347B77-09BB-7574-FF40-E7B6F6E78FD6}"/>
              </a:ext>
            </a:extLst>
          </p:cNvPr>
          <p:cNvSpPr>
            <a:spLocks noGrp="1"/>
          </p:cNvSpPr>
          <p:nvPr>
            <p:ph idx="1"/>
          </p:nvPr>
        </p:nvSpPr>
        <p:spPr>
          <a:xfrm>
            <a:off x="1351789" y="1690688"/>
            <a:ext cx="9538716" cy="4351338"/>
          </a:xfrm>
        </p:spPr>
        <p:txBody>
          <a:bodyPr>
            <a:normAutofit/>
          </a:bodyPr>
          <a:lstStyle/>
          <a:p>
            <a:pPr marL="0" indent="0">
              <a:buNone/>
            </a:pPr>
            <a:endParaRPr lang="en-US" dirty="0"/>
          </a:p>
          <a:p>
            <a:r>
              <a:rPr lang="en-US" sz="1800" b="1" dirty="0">
                <a:latin typeface="+mj-lt"/>
              </a:rPr>
              <a:t>Explore Food &amp; Beverage Trends :</a:t>
            </a:r>
            <a:r>
              <a:rPr lang="en-US" sz="1800" dirty="0">
                <a:latin typeface="+mj-lt"/>
              </a:rPr>
              <a:t> Study both global and Indian F&amp;B developments to identify changing customer preferences and future opportunities.</a:t>
            </a:r>
          </a:p>
          <a:p>
            <a:pPr marL="0" indent="0">
              <a:buNone/>
            </a:pPr>
            <a:endParaRPr lang="en-US" sz="1800" dirty="0">
              <a:latin typeface="+mj-lt"/>
            </a:endParaRPr>
          </a:p>
          <a:p>
            <a:r>
              <a:rPr lang="en-US" sz="1800" b="1" dirty="0">
                <a:latin typeface="+mj-lt"/>
              </a:rPr>
              <a:t>Understand Dining Innovations :</a:t>
            </a:r>
            <a:r>
              <a:rPr lang="en-US" sz="1800" dirty="0">
                <a:latin typeface="+mj-lt"/>
              </a:rPr>
              <a:t> Analyze modern solutions in corporate and retail dining like digital ordering, AI menus, and sustainability practices.</a:t>
            </a:r>
          </a:p>
          <a:p>
            <a:endParaRPr lang="en-US" sz="1800" dirty="0">
              <a:latin typeface="+mj-lt"/>
            </a:endParaRPr>
          </a:p>
          <a:p>
            <a:r>
              <a:rPr lang="en-US" sz="1800" b="1" dirty="0">
                <a:latin typeface="+mj-lt"/>
              </a:rPr>
              <a:t>Recommend Employee-Centric Solutions :</a:t>
            </a:r>
            <a:r>
              <a:rPr lang="en-US" sz="1800" dirty="0">
                <a:latin typeface="+mj-lt"/>
              </a:rPr>
              <a:t>Propose strategies that enhance food quality, accessibility, and satisfaction for Infosys employees.</a:t>
            </a:r>
            <a:endParaRPr lang="en-IN" sz="1800" dirty="0">
              <a:latin typeface="+mj-lt"/>
            </a:endParaRPr>
          </a:p>
        </p:txBody>
      </p:sp>
      <p:pic>
        <p:nvPicPr>
          <p:cNvPr id="5" name="Picture 4">
            <a:extLst>
              <a:ext uri="{FF2B5EF4-FFF2-40B4-BE49-F238E27FC236}">
                <a16:creationId xmlns:a16="http://schemas.microsoft.com/office/drawing/2014/main" id="{1C8E5042-E1BE-3F26-3CBC-24DA9E4E9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8649" y="0"/>
            <a:ext cx="1673351" cy="1181524"/>
          </a:xfrm>
          <a:prstGeom prst="rect">
            <a:avLst/>
          </a:prstGeom>
        </p:spPr>
      </p:pic>
      <p:sp>
        <p:nvSpPr>
          <p:cNvPr id="4" name="TextBox 3">
            <a:extLst>
              <a:ext uri="{FF2B5EF4-FFF2-40B4-BE49-F238E27FC236}">
                <a16:creationId xmlns:a16="http://schemas.microsoft.com/office/drawing/2014/main" id="{CBA7BC97-97CA-33AB-9A26-83340CF0E7F8}"/>
              </a:ext>
            </a:extLst>
          </p:cNvPr>
          <p:cNvSpPr txBox="1"/>
          <p:nvPr/>
        </p:nvSpPr>
        <p:spPr>
          <a:xfrm>
            <a:off x="309373" y="267596"/>
            <a:ext cx="1042416" cy="646331"/>
          </a:xfrm>
          <a:prstGeom prst="rect">
            <a:avLst/>
          </a:prstGeom>
          <a:noFill/>
        </p:spPr>
        <p:txBody>
          <a:bodyPr wrap="square" rtlCol="0">
            <a:spAutoFit/>
          </a:bodyPr>
          <a:lstStyle/>
          <a:p>
            <a:r>
              <a:rPr lang="en-US" b="1" dirty="0"/>
              <a:t>Group 3</a:t>
            </a:r>
          </a:p>
          <a:p>
            <a:endParaRPr lang="en-IN" dirty="0"/>
          </a:p>
        </p:txBody>
      </p:sp>
    </p:spTree>
    <p:extLst>
      <p:ext uri="{BB962C8B-B14F-4D97-AF65-F5344CB8AC3E}">
        <p14:creationId xmlns:p14="http://schemas.microsoft.com/office/powerpoint/2010/main" val="38177238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A0961-F49D-FDF9-ADEC-F460711BE21C}"/>
              </a:ext>
            </a:extLst>
          </p:cNvPr>
          <p:cNvSpPr>
            <a:spLocks noGrp="1"/>
          </p:cNvSpPr>
          <p:nvPr>
            <p:ph type="title"/>
          </p:nvPr>
        </p:nvSpPr>
        <p:spPr/>
        <p:txBody>
          <a:bodyPr/>
          <a:lstStyle/>
          <a:p>
            <a:pPr algn="ctr"/>
            <a:r>
              <a:rPr lang="en-US" dirty="0"/>
              <a:t>Methodology</a:t>
            </a:r>
            <a:endParaRPr lang="en-IN" dirty="0"/>
          </a:p>
        </p:txBody>
      </p:sp>
      <p:sp>
        <p:nvSpPr>
          <p:cNvPr id="3" name="Content Placeholder 2">
            <a:extLst>
              <a:ext uri="{FF2B5EF4-FFF2-40B4-BE49-F238E27FC236}">
                <a16:creationId xmlns:a16="http://schemas.microsoft.com/office/drawing/2014/main" id="{6A5ECC5E-2F1B-AFD3-4AB3-C9A93E558819}"/>
              </a:ext>
            </a:extLst>
          </p:cNvPr>
          <p:cNvSpPr>
            <a:spLocks noGrp="1"/>
          </p:cNvSpPr>
          <p:nvPr>
            <p:ph idx="1"/>
          </p:nvPr>
        </p:nvSpPr>
        <p:spPr>
          <a:xfrm>
            <a:off x="1306069" y="1845734"/>
            <a:ext cx="9767316" cy="4023360"/>
          </a:xfrm>
        </p:spPr>
        <p:txBody>
          <a:bodyPr>
            <a:normAutofit/>
          </a:bodyPr>
          <a:lstStyle/>
          <a:p>
            <a:endParaRPr lang="en-US" sz="1800" dirty="0">
              <a:latin typeface="Segoe UI Light" panose="020B0502040204020203" pitchFamily="34" charset="0"/>
              <a:cs typeface="Segoe UI Light" panose="020B0502040204020203" pitchFamily="34" charset="0"/>
            </a:endParaRPr>
          </a:p>
          <a:p>
            <a:r>
              <a:rPr lang="en-US" sz="1800" b="1" dirty="0">
                <a:latin typeface="Segoe UI Light" panose="020B0502040204020203" pitchFamily="34" charset="0"/>
                <a:cs typeface="Segoe UI Light" panose="020B0502040204020203" pitchFamily="34" charset="0"/>
              </a:rPr>
              <a:t>Data Collection: </a:t>
            </a:r>
            <a:r>
              <a:rPr lang="en-US" sz="1800" dirty="0">
                <a:latin typeface="Segoe UI Light" panose="020B0502040204020203" pitchFamily="34" charset="0"/>
                <a:cs typeface="Segoe UI Light" panose="020B0502040204020203" pitchFamily="34" charset="0"/>
              </a:rPr>
              <a:t>Gathered dataset containing age, gender, dietary preference, calories, and nutrition details.</a:t>
            </a:r>
          </a:p>
          <a:p>
            <a:endParaRPr lang="en-US" sz="1800" dirty="0">
              <a:latin typeface="Segoe UI Light" panose="020B0502040204020203" pitchFamily="34" charset="0"/>
              <a:cs typeface="Segoe UI Light" panose="020B0502040204020203" pitchFamily="34" charset="0"/>
            </a:endParaRPr>
          </a:p>
          <a:p>
            <a:r>
              <a:rPr lang="en-US" sz="1800" b="1" dirty="0">
                <a:latin typeface="Segoe UI Light" panose="020B0502040204020203" pitchFamily="34" charset="0"/>
                <a:cs typeface="Segoe UI Light" panose="020B0502040204020203" pitchFamily="34" charset="0"/>
              </a:rPr>
              <a:t>Data Cleaning &amp; Processing: </a:t>
            </a:r>
            <a:r>
              <a:rPr lang="en-US" sz="1800" dirty="0">
                <a:latin typeface="Segoe UI Light" panose="020B0502040204020203" pitchFamily="34" charset="0"/>
                <a:cs typeface="Segoe UI Light" panose="020B0502040204020203" pitchFamily="34" charset="0"/>
              </a:rPr>
              <a:t>Removed duplicates, standardized data, and added new calculated columns.</a:t>
            </a:r>
          </a:p>
          <a:p>
            <a:r>
              <a:rPr lang="en-US" sz="1800" b="1" dirty="0">
                <a:latin typeface="Segoe UI Light" panose="020B0502040204020203" pitchFamily="34" charset="0"/>
                <a:cs typeface="Segoe UI Light" panose="020B0502040204020203" pitchFamily="34" charset="0"/>
              </a:rPr>
              <a:t>Dashboard Design: </a:t>
            </a:r>
            <a:r>
              <a:rPr lang="en-US" sz="1800" dirty="0">
                <a:latin typeface="Segoe UI Light" panose="020B0502040204020203" pitchFamily="34" charset="0"/>
                <a:cs typeface="Segoe UI Light" panose="020B0502040204020203" pitchFamily="34" charset="0"/>
              </a:rPr>
              <a:t>Created visual insights showing calorie intake, nutrients, and meal recommendations.</a:t>
            </a:r>
          </a:p>
          <a:p>
            <a:r>
              <a:rPr lang="en-US" sz="1800" dirty="0">
                <a:latin typeface="Segoe UI Light" panose="020B0502040204020203" pitchFamily="34" charset="0"/>
                <a:cs typeface="Segoe UI Light" panose="020B0502040204020203" pitchFamily="34" charset="0"/>
              </a:rPr>
              <a:t>Insights &amp; Feedback: Derived key takeaways to help improve diet plans and awareness.</a:t>
            </a:r>
          </a:p>
        </p:txBody>
      </p:sp>
      <p:pic>
        <p:nvPicPr>
          <p:cNvPr id="4" name="Picture 3">
            <a:extLst>
              <a:ext uri="{FF2B5EF4-FFF2-40B4-BE49-F238E27FC236}">
                <a16:creationId xmlns:a16="http://schemas.microsoft.com/office/drawing/2014/main" id="{281AD421-FF67-C45A-D6E6-F23976D27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8649" y="0"/>
            <a:ext cx="1673351" cy="1181524"/>
          </a:xfrm>
          <a:prstGeom prst="rect">
            <a:avLst/>
          </a:prstGeom>
        </p:spPr>
      </p:pic>
      <p:sp>
        <p:nvSpPr>
          <p:cNvPr id="5" name="TextBox 4">
            <a:extLst>
              <a:ext uri="{FF2B5EF4-FFF2-40B4-BE49-F238E27FC236}">
                <a16:creationId xmlns:a16="http://schemas.microsoft.com/office/drawing/2014/main" id="{6B0B7981-9696-7219-F82C-057DA2D577CE}"/>
              </a:ext>
            </a:extLst>
          </p:cNvPr>
          <p:cNvSpPr txBox="1"/>
          <p:nvPr/>
        </p:nvSpPr>
        <p:spPr>
          <a:xfrm>
            <a:off x="263653" y="267596"/>
            <a:ext cx="1042416" cy="646331"/>
          </a:xfrm>
          <a:prstGeom prst="rect">
            <a:avLst/>
          </a:prstGeom>
          <a:noFill/>
        </p:spPr>
        <p:txBody>
          <a:bodyPr wrap="square" rtlCol="0">
            <a:spAutoFit/>
          </a:bodyPr>
          <a:lstStyle/>
          <a:p>
            <a:r>
              <a:rPr lang="en-US" b="1" dirty="0"/>
              <a:t>Group 3</a:t>
            </a:r>
          </a:p>
          <a:p>
            <a:endParaRPr lang="en-IN" dirty="0"/>
          </a:p>
        </p:txBody>
      </p:sp>
    </p:spTree>
    <p:extLst>
      <p:ext uri="{BB962C8B-B14F-4D97-AF65-F5344CB8AC3E}">
        <p14:creationId xmlns:p14="http://schemas.microsoft.com/office/powerpoint/2010/main" val="15138178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6AE00-9CE2-0EFC-6F5B-B69C4F2831A9}"/>
              </a:ext>
            </a:extLst>
          </p:cNvPr>
          <p:cNvSpPr>
            <a:spLocks noGrp="1"/>
          </p:cNvSpPr>
          <p:nvPr>
            <p:ph type="title"/>
          </p:nvPr>
        </p:nvSpPr>
        <p:spPr>
          <a:xfrm>
            <a:off x="548640" y="0"/>
            <a:ext cx="3291840" cy="621793"/>
          </a:xfrm>
        </p:spPr>
        <p:txBody>
          <a:bodyPr/>
          <a:lstStyle/>
          <a:p>
            <a:pPr algn="ctr"/>
            <a:r>
              <a:rPr lang="en-US" dirty="0"/>
              <a:t>Dashboard 1</a:t>
            </a:r>
            <a:endParaRPr lang="en-IN" dirty="0"/>
          </a:p>
        </p:txBody>
      </p:sp>
      <p:sp>
        <p:nvSpPr>
          <p:cNvPr id="4" name="Text Placeholder 3">
            <a:extLst>
              <a:ext uri="{FF2B5EF4-FFF2-40B4-BE49-F238E27FC236}">
                <a16:creationId xmlns:a16="http://schemas.microsoft.com/office/drawing/2014/main" id="{D8404DB9-5785-33F3-8289-37DC44B07303}"/>
              </a:ext>
            </a:extLst>
          </p:cNvPr>
          <p:cNvSpPr>
            <a:spLocks noGrp="1"/>
          </p:cNvSpPr>
          <p:nvPr>
            <p:ph type="body" sz="half" idx="2"/>
          </p:nvPr>
        </p:nvSpPr>
        <p:spPr>
          <a:xfrm>
            <a:off x="201168" y="804673"/>
            <a:ext cx="3547872" cy="6053327"/>
          </a:xfrm>
        </p:spPr>
        <p:txBody>
          <a:bodyPr>
            <a:normAutofit fontScale="92500"/>
          </a:bodyPr>
          <a:lstStyle/>
          <a:p>
            <a:pPr marL="285750" indent="-285750">
              <a:buClr>
                <a:schemeClr val="bg1"/>
              </a:buClr>
              <a:buFont typeface="Wingdings" panose="05000000000000000000" pitchFamily="2" charset="2"/>
              <a:buChar char="§"/>
            </a:pPr>
            <a:r>
              <a:rPr lang="en-US" dirty="0"/>
              <a:t>This dashboard provides an overall view of customers nutrition and meal preferences.</a:t>
            </a:r>
          </a:p>
          <a:p>
            <a:pPr marL="285750" indent="-285750">
              <a:buClr>
                <a:schemeClr val="bg1"/>
              </a:buClr>
              <a:buFont typeface="Wingdings" panose="05000000000000000000" pitchFamily="2" charset="2"/>
              <a:buChar char="§"/>
            </a:pPr>
            <a:r>
              <a:rPr lang="en-US" dirty="0"/>
              <a:t>Displays total calorie targets across all users using KPI indicators.</a:t>
            </a:r>
          </a:p>
          <a:p>
            <a:pPr marL="285750" indent="-285750">
              <a:buClr>
                <a:schemeClr val="bg1"/>
              </a:buClr>
              <a:buFont typeface="Wingdings" panose="05000000000000000000" pitchFamily="2" charset="2"/>
              <a:buChar char="§"/>
            </a:pPr>
            <a:r>
              <a:rPr lang="en-US" dirty="0"/>
              <a:t>Slicers for Age, Gender, Dietary Preference make insights more personalized.</a:t>
            </a:r>
          </a:p>
          <a:p>
            <a:pPr marL="285750" indent="-285750">
              <a:buClr>
                <a:schemeClr val="bg1"/>
              </a:buClr>
              <a:buFont typeface="Wingdings" panose="05000000000000000000" pitchFamily="2" charset="2"/>
              <a:buChar char="§"/>
            </a:pPr>
            <a:r>
              <a:rPr lang="en-US" dirty="0"/>
              <a:t>Donut charts show the proportion of Protein, Fat, and Carbohydrates intake.</a:t>
            </a:r>
          </a:p>
          <a:p>
            <a:pPr marL="285750" indent="-285750">
              <a:buClr>
                <a:schemeClr val="bg1"/>
              </a:buClr>
              <a:buFont typeface="Wingdings" panose="05000000000000000000" pitchFamily="2" charset="2"/>
              <a:buChar char="§"/>
            </a:pPr>
            <a:r>
              <a:rPr lang="en-US" dirty="0"/>
              <a:t>Another donut highlights the contribution of Fiber, Sugar, and Sodium in diets.</a:t>
            </a:r>
          </a:p>
          <a:p>
            <a:pPr marL="285750" indent="-285750">
              <a:buClr>
                <a:schemeClr val="bg1"/>
              </a:buClr>
              <a:buFont typeface="Wingdings" panose="05000000000000000000" pitchFamily="2" charset="2"/>
              <a:buChar char="§"/>
            </a:pPr>
            <a:r>
              <a:rPr lang="en-US" dirty="0"/>
              <a:t>Lunch and breakfast suggestion tables display food options with ratings and prices.</a:t>
            </a:r>
          </a:p>
          <a:p>
            <a:pPr marL="285750" indent="-285750">
              <a:buClr>
                <a:schemeClr val="bg1"/>
              </a:buClr>
              <a:buFont typeface="Wingdings" panose="05000000000000000000" pitchFamily="2" charset="2"/>
              <a:buChar char="§"/>
            </a:pPr>
            <a:r>
              <a:rPr lang="en-US" dirty="0"/>
              <a:t>Helps identify which meal combinations are both nutritious and affordable.</a:t>
            </a:r>
          </a:p>
          <a:p>
            <a:pPr marL="285750" indent="-285750">
              <a:buClr>
                <a:schemeClr val="bg1"/>
              </a:buClr>
              <a:buFont typeface="Wingdings" panose="05000000000000000000" pitchFamily="2" charset="2"/>
              <a:buChar char="§"/>
            </a:pPr>
            <a:r>
              <a:rPr lang="en-US" dirty="0"/>
              <a:t>Reveals how eating preferences vary between males and females Assists in understanding the relationship between user demographics and meal choices.</a:t>
            </a:r>
          </a:p>
          <a:p>
            <a:pPr marL="285750" indent="-285750">
              <a:buClr>
                <a:schemeClr val="bg1"/>
              </a:buClr>
              <a:buFont typeface="Wingdings" panose="05000000000000000000" pitchFamily="2" charset="2"/>
              <a:buChar char="§"/>
            </a:pPr>
            <a:r>
              <a:rPr lang="en-US" dirty="0"/>
              <a:t>Offers a foundation for exploring deeper insights on nutrition behavior.</a:t>
            </a:r>
            <a:endParaRPr lang="en-IN" dirty="0"/>
          </a:p>
        </p:txBody>
      </p:sp>
      <p:pic>
        <p:nvPicPr>
          <p:cNvPr id="5" name="Content Placeholder 4">
            <a:extLst>
              <a:ext uri="{FF2B5EF4-FFF2-40B4-BE49-F238E27FC236}">
                <a16:creationId xmlns:a16="http://schemas.microsoft.com/office/drawing/2014/main" id="{04298623-1C81-309A-91F4-8776180EB6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78224" y="0"/>
            <a:ext cx="8113776" cy="6858000"/>
          </a:xfrm>
          <a:prstGeom prst="rect">
            <a:avLst/>
          </a:prstGeom>
        </p:spPr>
      </p:pic>
    </p:spTree>
    <p:extLst>
      <p:ext uri="{BB962C8B-B14F-4D97-AF65-F5344CB8AC3E}">
        <p14:creationId xmlns:p14="http://schemas.microsoft.com/office/powerpoint/2010/main" val="11393135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144A5-FF06-09BA-FE81-2C81C3C63EC3}"/>
              </a:ext>
            </a:extLst>
          </p:cNvPr>
          <p:cNvSpPr>
            <a:spLocks noGrp="1"/>
          </p:cNvSpPr>
          <p:nvPr>
            <p:ph type="title"/>
          </p:nvPr>
        </p:nvSpPr>
        <p:spPr>
          <a:xfrm>
            <a:off x="923544" y="82295"/>
            <a:ext cx="2487168" cy="585217"/>
          </a:xfrm>
        </p:spPr>
        <p:txBody>
          <a:bodyPr/>
          <a:lstStyle/>
          <a:p>
            <a:r>
              <a:rPr lang="en-US" dirty="0"/>
              <a:t>Dashboard 2</a:t>
            </a:r>
            <a:endParaRPr lang="en-IN" dirty="0"/>
          </a:p>
        </p:txBody>
      </p:sp>
      <p:pic>
        <p:nvPicPr>
          <p:cNvPr id="6" name="Content Placeholder 5">
            <a:extLst>
              <a:ext uri="{FF2B5EF4-FFF2-40B4-BE49-F238E27FC236}">
                <a16:creationId xmlns:a16="http://schemas.microsoft.com/office/drawing/2014/main" id="{87993376-7B0D-48E4-F157-0BA15F06D2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6512" y="0"/>
            <a:ext cx="8095488" cy="6858000"/>
          </a:xfrm>
        </p:spPr>
      </p:pic>
      <p:sp>
        <p:nvSpPr>
          <p:cNvPr id="4" name="Text Placeholder 3">
            <a:extLst>
              <a:ext uri="{FF2B5EF4-FFF2-40B4-BE49-F238E27FC236}">
                <a16:creationId xmlns:a16="http://schemas.microsoft.com/office/drawing/2014/main" id="{C5210F08-55E3-D7C7-D222-B78E6F5EA882}"/>
              </a:ext>
            </a:extLst>
          </p:cNvPr>
          <p:cNvSpPr>
            <a:spLocks noGrp="1"/>
          </p:cNvSpPr>
          <p:nvPr>
            <p:ph type="body" sz="half" idx="2"/>
          </p:nvPr>
        </p:nvSpPr>
        <p:spPr>
          <a:xfrm>
            <a:off x="146304" y="667512"/>
            <a:ext cx="3712464" cy="5998464"/>
          </a:xfrm>
        </p:spPr>
        <p:txBody>
          <a:bodyPr>
            <a:normAutofit fontScale="92500" lnSpcReduction="10000"/>
          </a:bodyPr>
          <a:lstStyle/>
          <a:p>
            <a:pPr marL="285750" indent="-285750" algn="just">
              <a:buClr>
                <a:schemeClr val="bg1"/>
              </a:buClr>
              <a:buFont typeface="Wingdings" panose="05000000000000000000" pitchFamily="2" charset="2"/>
              <a:buChar char="§"/>
            </a:pPr>
            <a:r>
              <a:rPr lang="en-US" dirty="0"/>
              <a:t>This dashboard focuses on comparing dietary groups such as Omnivore, Vegetarian, Vegan, and Pescatarian.</a:t>
            </a:r>
          </a:p>
          <a:p>
            <a:pPr marL="285750" indent="-285750" algn="just">
              <a:buClr>
                <a:schemeClr val="bg1"/>
              </a:buClr>
              <a:buFont typeface="Wingdings" panose="05000000000000000000" pitchFamily="2" charset="2"/>
              <a:buChar char="§"/>
            </a:pPr>
            <a:r>
              <a:rPr lang="en-US" dirty="0"/>
              <a:t>KPI cards summarize average calories, total protein, and total fat consumed.</a:t>
            </a:r>
          </a:p>
          <a:p>
            <a:pPr marL="285750" indent="-285750" algn="just">
              <a:buClr>
                <a:schemeClr val="bg1"/>
              </a:buClr>
              <a:buFont typeface="Wingdings" panose="05000000000000000000" pitchFamily="2" charset="2"/>
              <a:buChar char="§"/>
            </a:pPr>
            <a:r>
              <a:rPr lang="en-US" dirty="0"/>
              <a:t>The Tree Map shows disease distribution by diet type, identifying at-risk categories.</a:t>
            </a:r>
          </a:p>
          <a:p>
            <a:pPr marL="285750" indent="-285750" algn="just">
              <a:buClr>
                <a:schemeClr val="bg1"/>
              </a:buClr>
              <a:buFont typeface="Wingdings" panose="05000000000000000000" pitchFamily="2" charset="2"/>
              <a:buChar char="§"/>
            </a:pPr>
            <a:r>
              <a:rPr lang="en-US" dirty="0"/>
              <a:t> The donut chart compares gender distribution, showing balanced participation in data. </a:t>
            </a:r>
          </a:p>
          <a:p>
            <a:pPr marL="285750" indent="-285750" algn="just">
              <a:buClr>
                <a:schemeClr val="bg1"/>
              </a:buClr>
              <a:buFont typeface="Wingdings" panose="05000000000000000000" pitchFamily="2" charset="2"/>
              <a:buChar char="§"/>
            </a:pPr>
            <a:r>
              <a:rPr lang="en-US" dirty="0"/>
              <a:t>Scatter plot reveals the relationship between sodium and sugar levels for each disease.</a:t>
            </a:r>
          </a:p>
          <a:p>
            <a:pPr marL="285750" indent="-285750" algn="just">
              <a:buClr>
                <a:schemeClr val="bg1"/>
              </a:buClr>
              <a:buFont typeface="Wingdings" panose="05000000000000000000" pitchFamily="2" charset="2"/>
              <a:buChar char="§"/>
            </a:pPr>
            <a:r>
              <a:rPr lang="en-US" dirty="0"/>
              <a:t>Snack suggestion table shows the most popular and highly rated snack options.</a:t>
            </a:r>
          </a:p>
          <a:p>
            <a:pPr marL="285750" indent="-285750" algn="just">
              <a:buClr>
                <a:schemeClr val="bg1"/>
              </a:buClr>
              <a:buFont typeface="Wingdings" panose="05000000000000000000" pitchFamily="2" charset="2"/>
              <a:buChar char="§"/>
            </a:pPr>
            <a:r>
              <a:rPr lang="en-US" dirty="0"/>
              <a:t>Bar chart represents gender-wise distribution of age and weight, giving demographic depth.</a:t>
            </a:r>
          </a:p>
          <a:p>
            <a:pPr marL="285750" indent="-285750" algn="just">
              <a:buClr>
                <a:schemeClr val="bg1"/>
              </a:buClr>
              <a:buFont typeface="Wingdings" panose="05000000000000000000" pitchFamily="2" charset="2"/>
              <a:buChar char="§"/>
            </a:pPr>
            <a:r>
              <a:rPr lang="en-US" dirty="0"/>
              <a:t>Gauge chart visualizes average food rating, indicating satisfaction trends.</a:t>
            </a:r>
          </a:p>
          <a:p>
            <a:pPr marL="285750" indent="-285750" algn="just">
              <a:buClr>
                <a:schemeClr val="bg1"/>
              </a:buClr>
              <a:buFont typeface="Wingdings" panose="05000000000000000000" pitchFamily="2" charset="2"/>
              <a:buChar char="§"/>
            </a:pPr>
            <a:r>
              <a:rPr lang="en-US" dirty="0"/>
              <a:t>Highlights that vegetarians and vegans have slightly lower disease rates.</a:t>
            </a:r>
          </a:p>
          <a:p>
            <a:pPr marL="285750" indent="-285750" algn="just">
              <a:buClr>
                <a:schemeClr val="bg1"/>
              </a:buClr>
              <a:buFont typeface="Wingdings" panose="05000000000000000000" pitchFamily="2" charset="2"/>
              <a:buChar char="§"/>
            </a:pPr>
            <a:r>
              <a:rPr lang="en-US" dirty="0"/>
              <a:t>Useful for understanding how dietary habits influence nutrition balance and health outcomes.</a:t>
            </a:r>
            <a:endParaRPr lang="en-IN" dirty="0"/>
          </a:p>
        </p:txBody>
      </p:sp>
    </p:spTree>
    <p:extLst>
      <p:ext uri="{BB962C8B-B14F-4D97-AF65-F5344CB8AC3E}">
        <p14:creationId xmlns:p14="http://schemas.microsoft.com/office/powerpoint/2010/main" val="271766617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5AE6-182D-0B5B-C740-1B60745CDC37}"/>
              </a:ext>
            </a:extLst>
          </p:cNvPr>
          <p:cNvSpPr>
            <a:spLocks noGrp="1"/>
          </p:cNvSpPr>
          <p:nvPr>
            <p:ph type="title"/>
          </p:nvPr>
        </p:nvSpPr>
        <p:spPr>
          <a:xfrm>
            <a:off x="987552" y="0"/>
            <a:ext cx="2286000" cy="512065"/>
          </a:xfrm>
        </p:spPr>
        <p:txBody>
          <a:bodyPr>
            <a:normAutofit fontScale="90000"/>
          </a:bodyPr>
          <a:lstStyle/>
          <a:p>
            <a:r>
              <a:rPr lang="en-US" dirty="0"/>
              <a:t>Dashboard 3</a:t>
            </a:r>
            <a:endParaRPr lang="en-IN" dirty="0"/>
          </a:p>
        </p:txBody>
      </p:sp>
      <p:pic>
        <p:nvPicPr>
          <p:cNvPr id="6" name="Content Placeholder 5">
            <a:extLst>
              <a:ext uri="{FF2B5EF4-FFF2-40B4-BE49-F238E27FC236}">
                <a16:creationId xmlns:a16="http://schemas.microsoft.com/office/drawing/2014/main" id="{4941BF9F-2949-D0FD-EA0F-792974B393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87368" y="0"/>
            <a:ext cx="8104632" cy="6857999"/>
          </a:xfrm>
        </p:spPr>
      </p:pic>
      <p:sp>
        <p:nvSpPr>
          <p:cNvPr id="4" name="Text Placeholder 3">
            <a:extLst>
              <a:ext uri="{FF2B5EF4-FFF2-40B4-BE49-F238E27FC236}">
                <a16:creationId xmlns:a16="http://schemas.microsoft.com/office/drawing/2014/main" id="{72822150-294D-1C04-ABD0-34F852CB0602}"/>
              </a:ext>
            </a:extLst>
          </p:cNvPr>
          <p:cNvSpPr>
            <a:spLocks noGrp="1"/>
          </p:cNvSpPr>
          <p:nvPr>
            <p:ph type="body" sz="half" idx="2"/>
          </p:nvPr>
        </p:nvSpPr>
        <p:spPr>
          <a:xfrm>
            <a:off x="182880" y="512065"/>
            <a:ext cx="3703320" cy="6181343"/>
          </a:xfrm>
        </p:spPr>
        <p:txBody>
          <a:bodyPr>
            <a:normAutofit lnSpcReduction="10000"/>
          </a:bodyPr>
          <a:lstStyle/>
          <a:p>
            <a:pPr marL="285750" indent="-285750" algn="just">
              <a:buClr>
                <a:schemeClr val="bg1"/>
              </a:buClr>
              <a:buFont typeface="Wingdings" panose="05000000000000000000" pitchFamily="2" charset="2"/>
              <a:buChar char="§"/>
            </a:pPr>
            <a:r>
              <a:rPr lang="en-US" dirty="0"/>
              <a:t>Examines how macronutrients (protein, carbs, fat, fiber)* relate to activity level and disease occurrence.</a:t>
            </a:r>
          </a:p>
          <a:p>
            <a:pPr marL="285750" indent="-285750" algn="just">
              <a:buClr>
                <a:schemeClr val="bg1"/>
              </a:buClr>
              <a:buFont typeface="Wingdings" panose="05000000000000000000" pitchFamily="2" charset="2"/>
              <a:buChar char="§"/>
            </a:pPr>
            <a:r>
              <a:rPr lang="en-US" dirty="0"/>
              <a:t> Clustered column chart compares nutrient consumption by activity level.</a:t>
            </a:r>
          </a:p>
          <a:p>
            <a:pPr marL="285750" indent="-285750" algn="just">
              <a:buClr>
                <a:schemeClr val="bg1"/>
              </a:buClr>
              <a:buFont typeface="Wingdings" panose="05000000000000000000" pitchFamily="2" charset="2"/>
              <a:buChar char="§"/>
            </a:pPr>
            <a:r>
              <a:rPr lang="en-US" dirty="0"/>
              <a:t>Tree Map visualizes total food price by price category, showing affordability distribution.</a:t>
            </a:r>
          </a:p>
          <a:p>
            <a:pPr marL="285750" indent="-285750" algn="just">
              <a:buClr>
                <a:schemeClr val="bg1"/>
              </a:buClr>
              <a:buFont typeface="Wingdings" panose="05000000000000000000" pitchFamily="2" charset="2"/>
              <a:buChar char="§"/>
            </a:pPr>
            <a:r>
              <a:rPr lang="en-US" dirty="0"/>
              <a:t> Bar chart links dietary preferences with activity patterns.</a:t>
            </a:r>
          </a:p>
          <a:p>
            <a:pPr marL="285750" indent="-285750" algn="just">
              <a:buClr>
                <a:schemeClr val="bg1"/>
              </a:buClr>
              <a:buFont typeface="Wingdings" panose="05000000000000000000" pitchFamily="2" charset="2"/>
              <a:buChar char="§"/>
            </a:pPr>
            <a:r>
              <a:rPr lang="en-US" dirty="0"/>
              <a:t>Table lists diseases such as Diabetes, Hypertension, Obesity, etc., for analysis.</a:t>
            </a:r>
          </a:p>
          <a:p>
            <a:pPr marL="285750" indent="-285750" algn="just">
              <a:buClr>
                <a:schemeClr val="bg1"/>
              </a:buClr>
              <a:buFont typeface="Wingdings" panose="05000000000000000000" pitchFamily="2" charset="2"/>
              <a:buChar char="§"/>
            </a:pPr>
            <a:r>
              <a:rPr lang="en-US" dirty="0"/>
              <a:t> Card visual displays the total calorie consumption across all users.</a:t>
            </a:r>
          </a:p>
          <a:p>
            <a:pPr marL="285750" indent="-285750" algn="just">
              <a:buClr>
                <a:schemeClr val="bg1"/>
              </a:buClr>
              <a:buFont typeface="Wingdings" panose="05000000000000000000" pitchFamily="2" charset="2"/>
              <a:buChar char="§"/>
            </a:pPr>
            <a:r>
              <a:rPr lang="en-US" dirty="0"/>
              <a:t> Weight and height slider filters allow dynamic exploration of body data.</a:t>
            </a:r>
          </a:p>
          <a:p>
            <a:pPr marL="285750" indent="-285750" algn="just">
              <a:buClr>
                <a:schemeClr val="bg1"/>
              </a:buClr>
              <a:buFont typeface="Wingdings" panose="05000000000000000000" pitchFamily="2" charset="2"/>
              <a:buChar char="§"/>
            </a:pPr>
            <a:r>
              <a:rPr lang="en-US" dirty="0"/>
              <a:t> Q/A box helps quickly identify lowest-calorie foods for specific conditions.</a:t>
            </a:r>
          </a:p>
          <a:p>
            <a:pPr marL="285750" indent="-285750" algn="just">
              <a:buClr>
                <a:schemeClr val="bg1"/>
              </a:buClr>
              <a:buFont typeface="Wingdings" panose="05000000000000000000" pitchFamily="2" charset="2"/>
              <a:buChar char="§"/>
            </a:pPr>
            <a:r>
              <a:rPr lang="en-US" dirty="0"/>
              <a:t> Highlights connection between poor diet and diseases like hypertension or obesity.</a:t>
            </a:r>
          </a:p>
          <a:p>
            <a:pPr marL="285750" indent="-285750" algn="just">
              <a:buClr>
                <a:schemeClr val="bg1"/>
              </a:buClr>
              <a:buFont typeface="Wingdings" panose="05000000000000000000" pitchFamily="2" charset="2"/>
              <a:buChar char="§"/>
            </a:pPr>
            <a:r>
              <a:rPr lang="en-US" dirty="0"/>
              <a:t> Enables better understanding of how lifestyle and nutrition impact overall wellness.</a:t>
            </a:r>
            <a:endParaRPr lang="en-IN" dirty="0"/>
          </a:p>
        </p:txBody>
      </p:sp>
    </p:spTree>
    <p:extLst>
      <p:ext uri="{BB962C8B-B14F-4D97-AF65-F5344CB8AC3E}">
        <p14:creationId xmlns:p14="http://schemas.microsoft.com/office/powerpoint/2010/main" val="45247858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9DD8-A0F1-E6DA-5995-ADB7BE021560}"/>
              </a:ext>
            </a:extLst>
          </p:cNvPr>
          <p:cNvSpPr>
            <a:spLocks noGrp="1"/>
          </p:cNvSpPr>
          <p:nvPr>
            <p:ph type="title"/>
          </p:nvPr>
        </p:nvSpPr>
        <p:spPr>
          <a:xfrm>
            <a:off x="832104" y="0"/>
            <a:ext cx="2542032" cy="649225"/>
          </a:xfrm>
        </p:spPr>
        <p:txBody>
          <a:bodyPr/>
          <a:lstStyle/>
          <a:p>
            <a:r>
              <a:rPr lang="en-US" dirty="0"/>
              <a:t>Dashboard 4</a:t>
            </a:r>
            <a:endParaRPr lang="en-IN" dirty="0"/>
          </a:p>
        </p:txBody>
      </p:sp>
      <p:pic>
        <p:nvPicPr>
          <p:cNvPr id="6" name="Content Placeholder 5">
            <a:extLst>
              <a:ext uri="{FF2B5EF4-FFF2-40B4-BE49-F238E27FC236}">
                <a16:creationId xmlns:a16="http://schemas.microsoft.com/office/drawing/2014/main" id="{6B678951-12AE-4870-DD5B-233CC04F6B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6512" y="0"/>
            <a:ext cx="8095488" cy="6858001"/>
          </a:xfrm>
        </p:spPr>
      </p:pic>
      <p:sp>
        <p:nvSpPr>
          <p:cNvPr id="4" name="Text Placeholder 3">
            <a:extLst>
              <a:ext uri="{FF2B5EF4-FFF2-40B4-BE49-F238E27FC236}">
                <a16:creationId xmlns:a16="http://schemas.microsoft.com/office/drawing/2014/main" id="{B7270BDD-B1FA-D849-7D45-E605779A6019}"/>
              </a:ext>
            </a:extLst>
          </p:cNvPr>
          <p:cNvSpPr>
            <a:spLocks noGrp="1"/>
          </p:cNvSpPr>
          <p:nvPr>
            <p:ph type="body" sz="half" idx="2"/>
          </p:nvPr>
        </p:nvSpPr>
        <p:spPr>
          <a:xfrm>
            <a:off x="109728" y="758952"/>
            <a:ext cx="3785616" cy="5916168"/>
          </a:xfrm>
        </p:spPr>
        <p:txBody>
          <a:bodyPr>
            <a:normAutofit fontScale="92500"/>
          </a:bodyPr>
          <a:lstStyle/>
          <a:p>
            <a:pPr marL="285750" indent="-285750" algn="just">
              <a:buClr>
                <a:schemeClr val="bg1"/>
              </a:buClr>
              <a:buFont typeface="Wingdings" panose="05000000000000000000" pitchFamily="2" charset="2"/>
              <a:buChar char="§"/>
            </a:pPr>
            <a:r>
              <a:rPr lang="en-US" dirty="0"/>
              <a:t>Focuses on breakfast food trends and their effect on ratings, nutrition, and cost.</a:t>
            </a:r>
          </a:p>
          <a:p>
            <a:pPr marL="285750" indent="-285750" algn="just">
              <a:buClr>
                <a:schemeClr val="bg1"/>
              </a:buClr>
              <a:buFont typeface="Wingdings" panose="05000000000000000000" pitchFamily="2" charset="2"/>
              <a:buChar char="§"/>
            </a:pPr>
            <a:r>
              <a:rPr lang="en-US" dirty="0"/>
              <a:t>Bar chart compares average ratings across different breakfast items.</a:t>
            </a:r>
          </a:p>
          <a:p>
            <a:pPr marL="285750" indent="-285750" algn="just">
              <a:buClr>
                <a:schemeClr val="bg1"/>
              </a:buClr>
              <a:buFont typeface="Wingdings" panose="05000000000000000000" pitchFamily="2" charset="2"/>
              <a:buChar char="§"/>
            </a:pPr>
            <a:r>
              <a:rPr lang="en-US" dirty="0"/>
              <a:t>Tables display nutrient averages (protein, calories, sodium) for each breakfast suggestion.</a:t>
            </a:r>
          </a:p>
          <a:p>
            <a:pPr marL="285750" indent="-285750" algn="just">
              <a:buClr>
                <a:schemeClr val="bg1"/>
              </a:buClr>
              <a:buFont typeface="Wingdings" panose="05000000000000000000" pitchFamily="2" charset="2"/>
              <a:buChar char="§"/>
            </a:pPr>
            <a:r>
              <a:rPr lang="en-US" dirty="0"/>
              <a:t>Scatter chart analyzes how price relates to sugar content, identifying healthier options.</a:t>
            </a:r>
          </a:p>
          <a:p>
            <a:pPr marL="285750" indent="-285750" algn="just">
              <a:buClr>
                <a:schemeClr val="bg1"/>
              </a:buClr>
              <a:buFont typeface="Wingdings" panose="05000000000000000000" pitchFamily="2" charset="2"/>
              <a:buChar char="§"/>
            </a:pPr>
            <a:r>
              <a:rPr lang="en-US" dirty="0"/>
              <a:t>Line chart shows age distribution by breakfast type, indicating preferences by generation.</a:t>
            </a:r>
          </a:p>
          <a:p>
            <a:pPr marL="285750" indent="-285750" algn="just">
              <a:buClr>
                <a:schemeClr val="bg1"/>
              </a:buClr>
              <a:buFont typeface="Wingdings" panose="05000000000000000000" pitchFamily="2" charset="2"/>
              <a:buChar char="§"/>
            </a:pPr>
            <a:r>
              <a:rPr lang="en-US" dirty="0"/>
              <a:t>Histogram tracks count of ages by price, showing spending habits.</a:t>
            </a:r>
          </a:p>
          <a:p>
            <a:pPr marL="285750" indent="-285750" algn="just">
              <a:buClr>
                <a:schemeClr val="bg1"/>
              </a:buClr>
              <a:buFont typeface="Wingdings" panose="05000000000000000000" pitchFamily="2" charset="2"/>
              <a:buChar char="§"/>
            </a:pPr>
            <a:r>
              <a:rPr lang="en-US" dirty="0"/>
              <a:t>Combined chart compares price category with dietary preference and average rating.</a:t>
            </a:r>
          </a:p>
          <a:p>
            <a:pPr marL="285750" indent="-285750" algn="just">
              <a:buClr>
                <a:schemeClr val="bg1"/>
              </a:buClr>
              <a:buFont typeface="Wingdings" panose="05000000000000000000" pitchFamily="2" charset="2"/>
              <a:buChar char="§"/>
            </a:pPr>
            <a:r>
              <a:rPr lang="en-US" dirty="0"/>
              <a:t>Reveals which foods are nutritious yet affordable and well-rated.</a:t>
            </a:r>
          </a:p>
          <a:p>
            <a:pPr marL="285750" indent="-285750" algn="just">
              <a:buClr>
                <a:schemeClr val="bg1"/>
              </a:buClr>
              <a:buFont typeface="Wingdings" panose="05000000000000000000" pitchFamily="2" charset="2"/>
              <a:buChar char="§"/>
            </a:pPr>
            <a:r>
              <a:rPr lang="en-US" dirty="0"/>
              <a:t>Highlights that moderately priced breakfast items score highest in satisfaction.</a:t>
            </a:r>
          </a:p>
          <a:p>
            <a:pPr marL="285750" indent="-285750" algn="just">
              <a:buClr>
                <a:schemeClr val="bg1"/>
              </a:buClr>
              <a:buFont typeface="Wingdings" panose="05000000000000000000" pitchFamily="2" charset="2"/>
              <a:buChar char="§"/>
            </a:pPr>
            <a:r>
              <a:rPr lang="en-US" dirty="0"/>
              <a:t>Helps food planners recommend balanced and cost-effective morning meals.</a:t>
            </a:r>
            <a:endParaRPr lang="en-IN" dirty="0"/>
          </a:p>
        </p:txBody>
      </p:sp>
    </p:spTree>
    <p:extLst>
      <p:ext uri="{BB962C8B-B14F-4D97-AF65-F5344CB8AC3E}">
        <p14:creationId xmlns:p14="http://schemas.microsoft.com/office/powerpoint/2010/main" val="158418912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778A-07A5-0AF2-22FA-E2D82F9A8DC0}"/>
              </a:ext>
            </a:extLst>
          </p:cNvPr>
          <p:cNvSpPr>
            <a:spLocks noGrp="1"/>
          </p:cNvSpPr>
          <p:nvPr>
            <p:ph type="title"/>
          </p:nvPr>
        </p:nvSpPr>
        <p:spPr>
          <a:xfrm>
            <a:off x="914400" y="13299"/>
            <a:ext cx="2313432" cy="539497"/>
          </a:xfrm>
        </p:spPr>
        <p:txBody>
          <a:bodyPr>
            <a:normAutofit fontScale="90000"/>
          </a:bodyPr>
          <a:lstStyle/>
          <a:p>
            <a:br>
              <a:rPr lang="en-US" dirty="0"/>
            </a:br>
            <a:br>
              <a:rPr lang="en-IN" dirty="0"/>
            </a:br>
            <a:br>
              <a:rPr lang="en-IN" dirty="0"/>
            </a:br>
            <a:br>
              <a:rPr lang="en-IN" dirty="0"/>
            </a:br>
            <a:br>
              <a:rPr lang="en-IN" dirty="0"/>
            </a:br>
            <a:br>
              <a:rPr lang="en-IN" dirty="0"/>
            </a:br>
            <a:r>
              <a:rPr lang="en-IN" dirty="0"/>
              <a:t>Dashboard 5</a:t>
            </a:r>
          </a:p>
        </p:txBody>
      </p:sp>
      <p:pic>
        <p:nvPicPr>
          <p:cNvPr id="6" name="Content Placeholder 5">
            <a:extLst>
              <a:ext uri="{FF2B5EF4-FFF2-40B4-BE49-F238E27FC236}">
                <a16:creationId xmlns:a16="http://schemas.microsoft.com/office/drawing/2014/main" id="{B45ED10A-4C55-C5FD-721A-5E092161B4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6512" y="0"/>
            <a:ext cx="8095488" cy="6857999"/>
          </a:xfrm>
        </p:spPr>
      </p:pic>
      <p:sp>
        <p:nvSpPr>
          <p:cNvPr id="4" name="Text Placeholder 3">
            <a:extLst>
              <a:ext uri="{FF2B5EF4-FFF2-40B4-BE49-F238E27FC236}">
                <a16:creationId xmlns:a16="http://schemas.microsoft.com/office/drawing/2014/main" id="{EE769517-23D9-2736-C423-7BA1C4D47E1C}"/>
              </a:ext>
            </a:extLst>
          </p:cNvPr>
          <p:cNvSpPr>
            <a:spLocks noGrp="1"/>
          </p:cNvSpPr>
          <p:nvPr>
            <p:ph type="body" sz="half" idx="2"/>
          </p:nvPr>
        </p:nvSpPr>
        <p:spPr>
          <a:xfrm>
            <a:off x="137160" y="552796"/>
            <a:ext cx="3712464" cy="6085748"/>
          </a:xfrm>
        </p:spPr>
        <p:txBody>
          <a:bodyPr>
            <a:normAutofit lnSpcReduction="10000"/>
          </a:bodyPr>
          <a:lstStyle/>
          <a:p>
            <a:pPr marL="285750" indent="-285750" algn="just">
              <a:buClr>
                <a:schemeClr val="bg1"/>
              </a:buClr>
              <a:buFont typeface="Wingdings" panose="05000000000000000000" pitchFamily="2" charset="2"/>
              <a:buChar char="§"/>
            </a:pPr>
            <a:r>
              <a:rPr lang="en-US" dirty="0"/>
              <a:t>This dashboard connects lifestyle habits with nutritional outcomes.</a:t>
            </a:r>
          </a:p>
          <a:p>
            <a:pPr marL="285750" indent="-285750" algn="just">
              <a:buClr>
                <a:schemeClr val="bg1"/>
              </a:buClr>
              <a:buFont typeface="Wingdings" panose="05000000000000000000" pitchFamily="2" charset="2"/>
              <a:buChar char="§"/>
            </a:pPr>
            <a:r>
              <a:rPr lang="en-US" dirty="0"/>
              <a:t>KPI cards show Average BMI, % Within Calorie Target, and Average Calories.</a:t>
            </a:r>
          </a:p>
          <a:p>
            <a:pPr marL="285750" indent="-285750" algn="just">
              <a:buClr>
                <a:schemeClr val="bg1"/>
              </a:buClr>
              <a:buFont typeface="Wingdings" panose="05000000000000000000" pitchFamily="2" charset="2"/>
              <a:buChar char="§"/>
            </a:pPr>
            <a:r>
              <a:rPr lang="en-US" dirty="0"/>
              <a:t>Clustered column chart compares activity level vs. calorie intake showing higher calories for active people.</a:t>
            </a:r>
          </a:p>
          <a:p>
            <a:pPr marL="285750" indent="-285750" algn="just">
              <a:buClr>
                <a:schemeClr val="bg1"/>
              </a:buClr>
              <a:buFont typeface="Wingdings" panose="05000000000000000000" pitchFamily="2" charset="2"/>
              <a:buChar char="§"/>
            </a:pPr>
            <a:r>
              <a:rPr lang="en-US" dirty="0"/>
              <a:t>Line chart displays Activity Level vs. Average BMI, revealing how fitness level affects body index.</a:t>
            </a:r>
          </a:p>
          <a:p>
            <a:pPr marL="285750" indent="-285750" algn="just">
              <a:buClr>
                <a:schemeClr val="bg1"/>
              </a:buClr>
              <a:buFont typeface="Wingdings" panose="05000000000000000000" pitchFamily="2" charset="2"/>
              <a:buChar char="§"/>
            </a:pPr>
            <a:r>
              <a:rPr lang="en-US" dirty="0"/>
              <a:t>Donut chart splits calorie status into Within Target vs. Above Target categories. Column chart shows average protein intake across dietary preferences.</a:t>
            </a:r>
          </a:p>
          <a:p>
            <a:pPr marL="285750" indent="-285750" algn="just">
              <a:buClr>
                <a:schemeClr val="bg1"/>
              </a:buClr>
              <a:buFont typeface="Wingdings" panose="05000000000000000000" pitchFamily="2" charset="2"/>
              <a:buChar char="§"/>
            </a:pPr>
            <a:r>
              <a:rPr lang="en-US" dirty="0"/>
              <a:t>Gender slicer enables detailed comparison between males and females.</a:t>
            </a:r>
          </a:p>
          <a:p>
            <a:pPr marL="285750" indent="-285750" algn="just">
              <a:buClr>
                <a:schemeClr val="bg1"/>
              </a:buClr>
              <a:buFont typeface="Wingdings" panose="05000000000000000000" pitchFamily="2" charset="2"/>
              <a:buChar char="§"/>
            </a:pPr>
            <a:r>
              <a:rPr lang="en-US" dirty="0"/>
              <a:t>Reveals that very active individuals consume more calories but maintain healthy BMI levels.</a:t>
            </a:r>
          </a:p>
          <a:p>
            <a:pPr marL="285750" indent="-285750" algn="just">
              <a:buClr>
                <a:schemeClr val="bg1"/>
              </a:buClr>
              <a:buFont typeface="Wingdings" panose="05000000000000000000" pitchFamily="2" charset="2"/>
              <a:buChar char="§"/>
            </a:pPr>
            <a:r>
              <a:rPr lang="en-US" dirty="0"/>
              <a:t>Demonstrates link between balanced diet and meeting calorie goals.</a:t>
            </a:r>
          </a:p>
          <a:p>
            <a:pPr marL="285750" indent="-285750" algn="just">
              <a:buClr>
                <a:schemeClr val="bg1"/>
              </a:buClr>
              <a:buFont typeface="Wingdings" panose="05000000000000000000" pitchFamily="2" charset="2"/>
              <a:buChar char="§"/>
            </a:pPr>
            <a:r>
              <a:rPr lang="en-US" dirty="0"/>
              <a:t>Provides actionable insights for designing personalized fitness and diet plans.</a:t>
            </a:r>
            <a:endParaRPr lang="en-IN" dirty="0"/>
          </a:p>
        </p:txBody>
      </p:sp>
    </p:spTree>
    <p:extLst>
      <p:ext uri="{BB962C8B-B14F-4D97-AF65-F5344CB8AC3E}">
        <p14:creationId xmlns:p14="http://schemas.microsoft.com/office/powerpoint/2010/main" val="1619885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EB64-A1C5-DD26-AE43-3F85CE749153}"/>
              </a:ext>
            </a:extLst>
          </p:cNvPr>
          <p:cNvSpPr>
            <a:spLocks noGrp="1"/>
          </p:cNvSpPr>
          <p:nvPr>
            <p:ph type="title"/>
          </p:nvPr>
        </p:nvSpPr>
        <p:spPr>
          <a:xfrm>
            <a:off x="813816" y="91439"/>
            <a:ext cx="2560320" cy="621793"/>
          </a:xfrm>
        </p:spPr>
        <p:txBody>
          <a:bodyPr/>
          <a:lstStyle/>
          <a:p>
            <a:r>
              <a:rPr lang="en-US" dirty="0"/>
              <a:t>Dashboard 6</a:t>
            </a:r>
            <a:endParaRPr lang="en-IN" dirty="0"/>
          </a:p>
        </p:txBody>
      </p:sp>
      <p:pic>
        <p:nvPicPr>
          <p:cNvPr id="6" name="Content Placeholder 5">
            <a:extLst>
              <a:ext uri="{FF2B5EF4-FFF2-40B4-BE49-F238E27FC236}">
                <a16:creationId xmlns:a16="http://schemas.microsoft.com/office/drawing/2014/main" id="{70EB4766-D345-B5AC-7570-1BFE34EAE0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87368" y="0"/>
            <a:ext cx="8104632" cy="6858000"/>
          </a:xfrm>
        </p:spPr>
      </p:pic>
      <p:sp>
        <p:nvSpPr>
          <p:cNvPr id="4" name="Text Placeholder 3">
            <a:extLst>
              <a:ext uri="{FF2B5EF4-FFF2-40B4-BE49-F238E27FC236}">
                <a16:creationId xmlns:a16="http://schemas.microsoft.com/office/drawing/2014/main" id="{B2B11DA9-13DD-0A2E-EE24-FDCFA778ED03}"/>
              </a:ext>
            </a:extLst>
          </p:cNvPr>
          <p:cNvSpPr>
            <a:spLocks noGrp="1"/>
          </p:cNvSpPr>
          <p:nvPr>
            <p:ph type="body" sz="half" idx="2"/>
          </p:nvPr>
        </p:nvSpPr>
        <p:spPr>
          <a:xfrm>
            <a:off x="137160" y="832103"/>
            <a:ext cx="3758184" cy="5934457"/>
          </a:xfrm>
        </p:spPr>
        <p:txBody>
          <a:bodyPr>
            <a:normAutofit fontScale="92500" lnSpcReduction="20000"/>
          </a:bodyPr>
          <a:lstStyle/>
          <a:p>
            <a:pPr marL="285750" indent="-285750" algn="just">
              <a:buClr>
                <a:schemeClr val="bg1"/>
              </a:buClr>
              <a:buFont typeface="Wingdings" panose="05000000000000000000" pitchFamily="2" charset="2"/>
              <a:buChar char="§"/>
            </a:pPr>
            <a:r>
              <a:rPr lang="en-US" dirty="0"/>
              <a:t>Highlights the connection between gender, activity level, and nutritional status.</a:t>
            </a:r>
          </a:p>
          <a:p>
            <a:pPr marL="285750" indent="-285750" algn="just">
              <a:buClr>
                <a:schemeClr val="bg1"/>
              </a:buClr>
              <a:buFont typeface="Wingdings" panose="05000000000000000000" pitchFamily="2" charset="2"/>
              <a:buChar char="§"/>
            </a:pPr>
            <a:r>
              <a:rPr lang="en-US" dirty="0"/>
              <a:t>Majority (82.9%) of participants stay within their calorie target, reflecting balanced diets.</a:t>
            </a:r>
          </a:p>
          <a:p>
            <a:pPr marL="285750" indent="-285750" algn="just">
              <a:buClr>
                <a:schemeClr val="bg1"/>
              </a:buClr>
              <a:buFont typeface="Wingdings" panose="05000000000000000000" pitchFamily="2" charset="2"/>
              <a:buChar char="§"/>
            </a:pPr>
            <a:r>
              <a:rPr lang="en-US" dirty="0"/>
              <a:t>BMI levels are highest among sedentary and lightly active groups, especially females.</a:t>
            </a:r>
          </a:p>
          <a:p>
            <a:pPr marL="285750" indent="-285750" algn="just">
              <a:buClr>
                <a:schemeClr val="bg1"/>
              </a:buClr>
              <a:buFont typeface="Wingdings" panose="05000000000000000000" pitchFamily="2" charset="2"/>
              <a:buChar char="§"/>
            </a:pPr>
            <a:r>
              <a:rPr lang="en-US" dirty="0"/>
              <a:t>Tree map visualizes nutrient distribution by meal type, with carbohydrates contributing the most.</a:t>
            </a:r>
          </a:p>
          <a:p>
            <a:pPr marL="285750" indent="-285750" algn="just">
              <a:buClr>
                <a:schemeClr val="bg1"/>
              </a:buClr>
              <a:buFont typeface="Wingdings" panose="05000000000000000000" pitchFamily="2" charset="2"/>
              <a:buChar char="§"/>
            </a:pPr>
            <a:r>
              <a:rPr lang="en-US" dirty="0"/>
              <a:t>Gender-wise calorie status shows females slightly outperform males in staying within calorie limits.</a:t>
            </a:r>
          </a:p>
          <a:p>
            <a:pPr marL="285750" indent="-285750" algn="just">
              <a:buClr>
                <a:schemeClr val="bg1"/>
              </a:buClr>
              <a:buFont typeface="Wingdings" panose="05000000000000000000" pitchFamily="2" charset="2"/>
              <a:buChar char="§"/>
            </a:pPr>
            <a:r>
              <a:rPr lang="en-US" dirty="0"/>
              <a:t>Donut chart indicates balanced gender distribution across dietary preferences (≈49% female, 51% male).</a:t>
            </a:r>
          </a:p>
          <a:p>
            <a:pPr marL="285750" indent="-285750" algn="just">
              <a:buClr>
                <a:schemeClr val="bg1"/>
              </a:buClr>
              <a:buFont typeface="Wingdings" panose="05000000000000000000" pitchFamily="2" charset="2"/>
              <a:buChar char="§"/>
            </a:pPr>
            <a:r>
              <a:rPr lang="en-US" dirty="0"/>
              <a:t>KPIs emphasize health consistency through calorie adherence and BMI management.</a:t>
            </a:r>
          </a:p>
          <a:p>
            <a:pPr marL="285750" indent="-285750" algn="just">
              <a:buClr>
                <a:schemeClr val="bg1"/>
              </a:buClr>
              <a:buFont typeface="Wingdings" panose="05000000000000000000" pitchFamily="2" charset="2"/>
              <a:buChar char="§"/>
            </a:pPr>
            <a:r>
              <a:rPr lang="en-US" dirty="0"/>
              <a:t>Insight supports linking activity level and meal composition to overall health outcomes.</a:t>
            </a:r>
          </a:p>
          <a:p>
            <a:pPr marL="285750" indent="-285750" algn="just">
              <a:buClr>
                <a:schemeClr val="bg1"/>
              </a:buClr>
              <a:buFont typeface="Wingdings" panose="05000000000000000000" pitchFamily="2" charset="2"/>
              <a:buChar char="§"/>
            </a:pPr>
            <a:r>
              <a:rPr lang="en-US" dirty="0"/>
              <a:t>Enables quick comparison of gender-based patterns in calorie control and nutrient intake.</a:t>
            </a:r>
          </a:p>
          <a:p>
            <a:pPr marL="285750" indent="-285750" algn="just">
              <a:buClr>
                <a:schemeClr val="bg1"/>
              </a:buClr>
              <a:buFont typeface="Wingdings" panose="05000000000000000000" pitchFamily="2" charset="2"/>
              <a:buChar char="§"/>
            </a:pPr>
            <a:r>
              <a:rPr lang="en-US" dirty="0"/>
              <a:t>Concludes that moderate activity and balanced meal types lead to healthier BMI scores.</a:t>
            </a:r>
            <a:endParaRPr lang="en-IN" dirty="0"/>
          </a:p>
        </p:txBody>
      </p:sp>
    </p:spTree>
    <p:extLst>
      <p:ext uri="{BB962C8B-B14F-4D97-AF65-F5344CB8AC3E}">
        <p14:creationId xmlns:p14="http://schemas.microsoft.com/office/powerpoint/2010/main" val="15873016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79C0-716C-747F-4AC8-E47398FFD79B}"/>
              </a:ext>
            </a:extLst>
          </p:cNvPr>
          <p:cNvSpPr>
            <a:spLocks noGrp="1"/>
          </p:cNvSpPr>
          <p:nvPr>
            <p:ph type="title"/>
          </p:nvPr>
        </p:nvSpPr>
        <p:spPr>
          <a:xfrm>
            <a:off x="749808" y="0"/>
            <a:ext cx="2679192" cy="612649"/>
          </a:xfrm>
        </p:spPr>
        <p:txBody>
          <a:bodyPr/>
          <a:lstStyle/>
          <a:p>
            <a:r>
              <a:rPr lang="en-US" dirty="0"/>
              <a:t>Dashboard 7</a:t>
            </a:r>
            <a:endParaRPr lang="en-IN" dirty="0"/>
          </a:p>
        </p:txBody>
      </p:sp>
      <p:pic>
        <p:nvPicPr>
          <p:cNvPr id="6" name="Content Placeholder 5">
            <a:extLst>
              <a:ext uri="{FF2B5EF4-FFF2-40B4-BE49-F238E27FC236}">
                <a16:creationId xmlns:a16="http://schemas.microsoft.com/office/drawing/2014/main" id="{C5B54A4F-14AA-1F18-249C-1E120C3008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87368" y="0"/>
            <a:ext cx="8104632" cy="6858000"/>
          </a:xfrm>
        </p:spPr>
      </p:pic>
      <p:sp>
        <p:nvSpPr>
          <p:cNvPr id="4" name="Text Placeholder 3">
            <a:extLst>
              <a:ext uri="{FF2B5EF4-FFF2-40B4-BE49-F238E27FC236}">
                <a16:creationId xmlns:a16="http://schemas.microsoft.com/office/drawing/2014/main" id="{E11F635E-454C-CCE9-1756-EB50FBC318F4}"/>
              </a:ext>
            </a:extLst>
          </p:cNvPr>
          <p:cNvSpPr>
            <a:spLocks noGrp="1"/>
          </p:cNvSpPr>
          <p:nvPr>
            <p:ph type="body" sz="half" idx="2"/>
          </p:nvPr>
        </p:nvSpPr>
        <p:spPr>
          <a:xfrm>
            <a:off x="155448" y="612649"/>
            <a:ext cx="3785616" cy="6108191"/>
          </a:xfrm>
        </p:spPr>
        <p:txBody>
          <a:bodyPr>
            <a:normAutofit lnSpcReduction="10000"/>
          </a:bodyPr>
          <a:lstStyle/>
          <a:p>
            <a:pPr marL="285750" indent="-285750" algn="just">
              <a:buClr>
                <a:schemeClr val="bg1"/>
              </a:buClr>
              <a:buFont typeface="Wingdings" panose="05000000000000000000" pitchFamily="2" charset="2"/>
              <a:buChar char="§"/>
            </a:pPr>
            <a:r>
              <a:rPr lang="en-US" dirty="0"/>
              <a:t>Focuses on understanding how food pricing impacts health outcomes and nutrient efficiency.</a:t>
            </a:r>
          </a:p>
          <a:p>
            <a:pPr marL="285750" indent="-285750" algn="just">
              <a:buClr>
                <a:schemeClr val="bg1"/>
              </a:buClr>
              <a:buFont typeface="Wingdings" panose="05000000000000000000" pitchFamily="2" charset="2"/>
              <a:buChar char="§"/>
            </a:pPr>
            <a:r>
              <a:rPr lang="en-US" dirty="0"/>
              <a:t>Scatter chart shows relationship between BMI and price, categorized by dietary type (omnivore, vegan, etc.).</a:t>
            </a:r>
          </a:p>
          <a:p>
            <a:pPr marL="285750" indent="-285750" algn="just">
              <a:buClr>
                <a:schemeClr val="bg1"/>
              </a:buClr>
              <a:buFont typeface="Wingdings" panose="05000000000000000000" pitchFamily="2" charset="2"/>
              <a:buChar char="§"/>
            </a:pPr>
            <a:r>
              <a:rPr lang="en-US" dirty="0"/>
              <a:t>Breakfast meals dominate total cost according to the </a:t>
            </a:r>
            <a:r>
              <a:rPr lang="en-US" dirty="0" err="1"/>
              <a:t>treemap</a:t>
            </a:r>
            <a:r>
              <a:rPr lang="en-US" dirty="0"/>
              <a:t> .</a:t>
            </a:r>
          </a:p>
          <a:p>
            <a:pPr marL="285750" indent="-285750" algn="just">
              <a:buClr>
                <a:schemeClr val="bg1"/>
              </a:buClr>
              <a:buFont typeface="Wingdings" panose="05000000000000000000" pitchFamily="2" charset="2"/>
              <a:buChar char="§"/>
            </a:pPr>
            <a:r>
              <a:rPr lang="en-US" dirty="0"/>
              <a:t>Carbohydrate identified as the most cost-efficient nutrient, balancing price and energy contribution.</a:t>
            </a:r>
          </a:p>
          <a:p>
            <a:pPr marL="285750" indent="-285750" algn="just">
              <a:buClr>
                <a:schemeClr val="bg1"/>
              </a:buClr>
              <a:buFont typeface="Wingdings" panose="05000000000000000000" pitchFamily="2" charset="2"/>
              <a:buChar char="§"/>
            </a:pPr>
            <a:r>
              <a:rPr lang="en-US" dirty="0"/>
              <a:t>Price per gram metric (0.90) helps identify value-for-money foods.</a:t>
            </a:r>
          </a:p>
          <a:p>
            <a:pPr marL="285750" indent="-285750" algn="just">
              <a:buClr>
                <a:schemeClr val="bg1"/>
              </a:buClr>
              <a:buFont typeface="Wingdings" panose="05000000000000000000" pitchFamily="2" charset="2"/>
              <a:buChar char="§"/>
            </a:pPr>
            <a:r>
              <a:rPr lang="en-US" dirty="0"/>
              <a:t>Gauge chart tracks calorie adherence most users fall around 50% of their daily calorie goal.</a:t>
            </a:r>
          </a:p>
          <a:p>
            <a:pPr marL="285750" indent="-285750" algn="just">
              <a:buClr>
                <a:schemeClr val="bg1"/>
              </a:buClr>
              <a:buFont typeface="Wingdings" panose="05000000000000000000" pitchFamily="2" charset="2"/>
              <a:buChar char="§"/>
            </a:pPr>
            <a:r>
              <a:rPr lang="en-US" dirty="0"/>
              <a:t>Table lists specific food items and their corresponding total cost.</a:t>
            </a:r>
          </a:p>
          <a:p>
            <a:pPr marL="285750" indent="-285750" algn="just">
              <a:buClr>
                <a:schemeClr val="bg1"/>
              </a:buClr>
              <a:buFont typeface="Wingdings" panose="05000000000000000000" pitchFamily="2" charset="2"/>
              <a:buChar char="§"/>
            </a:pPr>
            <a:r>
              <a:rPr lang="en-US" dirty="0"/>
              <a:t>Comparison of ratings by price range shows customer satisfaction remains stable across low-to-high categories.</a:t>
            </a:r>
          </a:p>
          <a:p>
            <a:pPr marL="285750" indent="-285750" algn="just">
              <a:buClr>
                <a:schemeClr val="bg1"/>
              </a:buClr>
              <a:buFont typeface="Wingdings" panose="05000000000000000000" pitchFamily="2" charset="2"/>
              <a:buChar char="§"/>
            </a:pPr>
            <a:r>
              <a:rPr lang="en-US" dirty="0"/>
              <a:t>Overall, the dashboard links monetary value with nutrition quality and BMI trends.</a:t>
            </a:r>
            <a:endParaRPr lang="en-IN" dirty="0"/>
          </a:p>
        </p:txBody>
      </p:sp>
    </p:spTree>
    <p:extLst>
      <p:ext uri="{BB962C8B-B14F-4D97-AF65-F5344CB8AC3E}">
        <p14:creationId xmlns:p14="http://schemas.microsoft.com/office/powerpoint/2010/main" val="232817448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F788F-CAF6-21D2-4D1C-8F696539E4A9}"/>
              </a:ext>
            </a:extLst>
          </p:cNvPr>
          <p:cNvSpPr>
            <a:spLocks noGrp="1"/>
          </p:cNvSpPr>
          <p:nvPr>
            <p:ph type="title"/>
          </p:nvPr>
        </p:nvSpPr>
        <p:spPr/>
        <p:txBody>
          <a:bodyPr/>
          <a:lstStyle/>
          <a:p>
            <a:pPr algn="ctr"/>
            <a:r>
              <a:rPr lang="en-US" dirty="0"/>
              <a:t>Conclusion</a:t>
            </a:r>
            <a:endParaRPr lang="en-IN" dirty="0"/>
          </a:p>
        </p:txBody>
      </p:sp>
      <p:sp>
        <p:nvSpPr>
          <p:cNvPr id="3" name="Content Placeholder 2">
            <a:extLst>
              <a:ext uri="{FF2B5EF4-FFF2-40B4-BE49-F238E27FC236}">
                <a16:creationId xmlns:a16="http://schemas.microsoft.com/office/drawing/2014/main" id="{545D3038-FE6B-7DDF-DD20-551D4386B228}"/>
              </a:ext>
            </a:extLst>
          </p:cNvPr>
          <p:cNvSpPr>
            <a:spLocks noGrp="1"/>
          </p:cNvSpPr>
          <p:nvPr>
            <p:ph idx="1"/>
          </p:nvPr>
        </p:nvSpPr>
        <p:spPr>
          <a:xfrm>
            <a:off x="1472184" y="1845734"/>
            <a:ext cx="9464040" cy="4023360"/>
          </a:xfrm>
        </p:spPr>
        <p:txBody>
          <a:bodyPr>
            <a:normAutofit/>
          </a:bodyPr>
          <a:lstStyle/>
          <a:p>
            <a:pPr marL="0" indent="0">
              <a:buNone/>
            </a:pPr>
            <a:r>
              <a:rPr lang="en-US" dirty="0">
                <a:latin typeface="+mj-lt"/>
              </a:rPr>
              <a:t> </a:t>
            </a:r>
          </a:p>
          <a:p>
            <a:pPr marL="0" indent="0">
              <a:buNone/>
            </a:pPr>
            <a:r>
              <a:rPr lang="en-US" dirty="0">
                <a:latin typeface="+mj-lt"/>
              </a:rPr>
              <a:t>Our dashboard gives meaningful insights into food consumption and nutrition balance. It supports better awareness of calorie intake and promotes healthy eating habits. By integrating data visualization and analysis, it helps users make informed food choices and maintain a balanced diet.</a:t>
            </a:r>
            <a:endParaRPr lang="en-IN" dirty="0">
              <a:latin typeface="+mj-lt"/>
            </a:endParaRPr>
          </a:p>
        </p:txBody>
      </p:sp>
      <p:pic>
        <p:nvPicPr>
          <p:cNvPr id="4" name="Picture 3">
            <a:extLst>
              <a:ext uri="{FF2B5EF4-FFF2-40B4-BE49-F238E27FC236}">
                <a16:creationId xmlns:a16="http://schemas.microsoft.com/office/drawing/2014/main" id="{AF6852F3-A036-D2E7-E0D6-C83176F64D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7124" y="3778"/>
            <a:ext cx="1673351" cy="1181524"/>
          </a:xfrm>
          <a:prstGeom prst="rect">
            <a:avLst/>
          </a:prstGeom>
        </p:spPr>
      </p:pic>
      <p:sp>
        <p:nvSpPr>
          <p:cNvPr id="5" name="TextBox 4">
            <a:extLst>
              <a:ext uri="{FF2B5EF4-FFF2-40B4-BE49-F238E27FC236}">
                <a16:creationId xmlns:a16="http://schemas.microsoft.com/office/drawing/2014/main" id="{CE89E5EA-98ED-FEF6-A329-8E6151D20258}"/>
              </a:ext>
            </a:extLst>
          </p:cNvPr>
          <p:cNvSpPr txBox="1"/>
          <p:nvPr/>
        </p:nvSpPr>
        <p:spPr>
          <a:xfrm>
            <a:off x="208789" y="286603"/>
            <a:ext cx="1042416" cy="646331"/>
          </a:xfrm>
          <a:prstGeom prst="rect">
            <a:avLst/>
          </a:prstGeom>
          <a:noFill/>
        </p:spPr>
        <p:txBody>
          <a:bodyPr wrap="square" rtlCol="0">
            <a:spAutoFit/>
          </a:bodyPr>
          <a:lstStyle/>
          <a:p>
            <a:r>
              <a:rPr lang="en-US" b="1" dirty="0"/>
              <a:t>Group 3</a:t>
            </a:r>
          </a:p>
          <a:p>
            <a:endParaRPr lang="en-IN" dirty="0"/>
          </a:p>
        </p:txBody>
      </p:sp>
    </p:spTree>
    <p:extLst>
      <p:ext uri="{BB962C8B-B14F-4D97-AF65-F5344CB8AC3E}">
        <p14:creationId xmlns:p14="http://schemas.microsoft.com/office/powerpoint/2010/main" val="20883703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59746-141F-2D9F-D297-13C6333E9338}"/>
              </a:ext>
            </a:extLst>
          </p:cNvPr>
          <p:cNvSpPr>
            <a:spLocks noGrp="1"/>
          </p:cNvSpPr>
          <p:nvPr>
            <p:ph type="title"/>
          </p:nvPr>
        </p:nvSpPr>
        <p:spPr>
          <a:xfrm>
            <a:off x="3387852" y="2103437"/>
            <a:ext cx="5416296" cy="1325563"/>
          </a:xfrm>
        </p:spPr>
        <p:txBody>
          <a:bodyPr>
            <a:noAutofit/>
          </a:bodyPr>
          <a:lstStyle/>
          <a:p>
            <a:r>
              <a:rPr lang="en-US" sz="9600" dirty="0"/>
              <a:t>Thank You</a:t>
            </a:r>
            <a:endParaRPr lang="en-IN" sz="9600" dirty="0"/>
          </a:p>
        </p:txBody>
      </p:sp>
    </p:spTree>
    <p:extLst>
      <p:ext uri="{BB962C8B-B14F-4D97-AF65-F5344CB8AC3E}">
        <p14:creationId xmlns:p14="http://schemas.microsoft.com/office/powerpoint/2010/main" val="11418414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Retrospec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TM02900722[[fn=Ion Boardroom]]</Template>
  <TotalTime>180</TotalTime>
  <Words>1221</Words>
  <Application>Microsoft Office PowerPoint</Application>
  <PresentationFormat>Widescreen</PresentationFormat>
  <Paragraphs>108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Calibri Light</vt:lpstr>
      <vt:lpstr>Segoe UI Light</vt:lpstr>
      <vt:lpstr>Wingdings</vt:lpstr>
      <vt:lpstr>Retrospect</vt:lpstr>
      <vt:lpstr> Infosys Food Trends</vt:lpstr>
      <vt:lpstr>Project Overview</vt:lpstr>
      <vt:lpstr>Project Goals</vt:lpstr>
      <vt:lpstr>Methodology</vt:lpstr>
      <vt:lpstr>Dashboard 1</vt:lpstr>
      <vt:lpstr>Dashboard 2</vt:lpstr>
      <vt:lpstr>Dashboard 3</vt:lpstr>
      <vt:lpstr>Dashboard 4</vt:lpstr>
      <vt:lpstr>      Dashboard 5</vt:lpstr>
      <vt:lpstr>Dashboard 6</vt:lpstr>
      <vt:lpstr>Dashboard 7</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Maithili Phulari</dc:creator>
  <cp:lastModifiedBy>Maithili Phulari</cp:lastModifiedBy>
  <cp:revision>28</cp:revision>
  <dcterms:created xsi:type="dcterms:W3CDTF">2025-09-25T06:18:42Z</dcterms:created>
  <dcterms:modified xsi:type="dcterms:W3CDTF">2025-11-01T10:22:41Z</dcterms:modified>
</cp:coreProperties>
</file>