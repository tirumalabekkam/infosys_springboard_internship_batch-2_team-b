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Neue Machina" panose="020B0604020202020204" charset="0"/>
      <p:regular r:id="rId14"/>
    </p:embeddedFont>
    <p:embeddedFont>
      <p:font typeface="Neue Machina Ultra-Bold" panose="020B0604020202020204" charset="0"/>
      <p:regular r:id="rId15"/>
    </p:embeddedFont>
    <p:embeddedFont>
      <p:font typeface="Telegraf" panose="020B0604020202020204" charset="0"/>
      <p:regular r:id="rId16"/>
    </p:embeddedFont>
    <p:embeddedFont>
      <p:font typeface="Telegraf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81C13-84CC-492A-AE33-69C4336A9ED3}" v="2" dt="2025-11-03T14:11:18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54" y="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iv Rishi" userId="cb86608dd2f9f48b" providerId="LiveId" clId="{C754692A-840A-44E1-8DA3-A1C1D3FE1899}"/>
    <pc:docChg chg="undo custSel addSld modSld">
      <pc:chgData name="Parthiv Rishi" userId="cb86608dd2f9f48b" providerId="LiveId" clId="{C754692A-840A-44E1-8DA3-A1C1D3FE1899}" dt="2025-11-03T15:13:18.774" v="124" actId="1076"/>
      <pc:docMkLst>
        <pc:docMk/>
      </pc:docMkLst>
      <pc:sldChg chg="addSp delSp modSp mod modClrScheme chgLayout">
        <pc:chgData name="Parthiv Rishi" userId="cb86608dd2f9f48b" providerId="LiveId" clId="{C754692A-840A-44E1-8DA3-A1C1D3FE1899}" dt="2025-11-03T14:12:43.883" v="53" actId="1076"/>
        <pc:sldMkLst>
          <pc:docMk/>
          <pc:sldMk cId="0" sldId="256"/>
        </pc:sldMkLst>
        <pc:spChg chg="mod">
          <ac:chgData name="Parthiv Rishi" userId="cb86608dd2f9f48b" providerId="LiveId" clId="{C754692A-840A-44E1-8DA3-A1C1D3FE1899}" dt="2025-11-03T14:10:10.648" v="1"/>
          <ac:spMkLst>
            <pc:docMk/>
            <pc:sldMk cId="0" sldId="256"/>
            <ac:spMk id="13" creationId="{B69D6155-F181-341F-9C2A-5212E59CCF57}"/>
          </ac:spMkLst>
        </pc:spChg>
        <pc:spChg chg="mod">
          <ac:chgData name="Parthiv Rishi" userId="cb86608dd2f9f48b" providerId="LiveId" clId="{C754692A-840A-44E1-8DA3-A1C1D3FE1899}" dt="2025-11-03T14:11:17.286" v="25" actId="20577"/>
          <ac:spMkLst>
            <pc:docMk/>
            <pc:sldMk cId="0" sldId="256"/>
            <ac:spMk id="14" creationId="{5418DC70-169B-168C-8950-154B5B04BD94}"/>
          </ac:spMkLst>
        </pc:spChg>
        <pc:spChg chg="add del mod ord">
          <ac:chgData name="Parthiv Rishi" userId="cb86608dd2f9f48b" providerId="LiveId" clId="{C754692A-840A-44E1-8DA3-A1C1D3FE1899}" dt="2025-11-03T14:11:53.196" v="29" actId="700"/>
          <ac:spMkLst>
            <pc:docMk/>
            <pc:sldMk cId="0" sldId="256"/>
            <ac:spMk id="15" creationId="{ECFD57BF-B712-CEF4-0AE8-14B74B0600DF}"/>
          </ac:spMkLst>
        </pc:spChg>
        <pc:spChg chg="add del mod ord">
          <ac:chgData name="Parthiv Rishi" userId="cb86608dd2f9f48b" providerId="LiveId" clId="{C754692A-840A-44E1-8DA3-A1C1D3FE1899}" dt="2025-11-03T14:11:53.196" v="29" actId="700"/>
          <ac:spMkLst>
            <pc:docMk/>
            <pc:sldMk cId="0" sldId="256"/>
            <ac:spMk id="16" creationId="{3BC0DCAE-9C62-0D15-5A58-911DB66894F4}"/>
          </ac:spMkLst>
        </pc:spChg>
        <pc:spChg chg="add mod ord">
          <ac:chgData name="Parthiv Rishi" userId="cb86608dd2f9f48b" providerId="LiveId" clId="{C754692A-840A-44E1-8DA3-A1C1D3FE1899}" dt="2025-11-03T14:12:43.883" v="53" actId="1076"/>
          <ac:spMkLst>
            <pc:docMk/>
            <pc:sldMk cId="0" sldId="256"/>
            <ac:spMk id="17" creationId="{92F7281E-2810-0BBE-F886-44600EB0B0C7}"/>
          </ac:spMkLst>
        </pc:spChg>
        <pc:grpChg chg="mod">
          <ac:chgData name="Parthiv Rishi" userId="cb86608dd2f9f48b" providerId="LiveId" clId="{C754692A-840A-44E1-8DA3-A1C1D3FE1899}" dt="2025-11-03T14:10:49.990" v="22" actId="1076"/>
          <ac:grpSpMkLst>
            <pc:docMk/>
            <pc:sldMk cId="0" sldId="256"/>
            <ac:grpSpMk id="5" creationId="{00000000-0000-0000-0000-000000000000}"/>
          </ac:grpSpMkLst>
        </pc:grpChg>
        <pc:grpChg chg="add mod">
          <ac:chgData name="Parthiv Rishi" userId="cb86608dd2f9f48b" providerId="LiveId" clId="{C754692A-840A-44E1-8DA3-A1C1D3FE1899}" dt="2025-11-03T14:10:10.648" v="1"/>
          <ac:grpSpMkLst>
            <pc:docMk/>
            <pc:sldMk cId="0" sldId="256"/>
            <ac:grpSpMk id="12" creationId="{96960F8A-D93B-3FEB-15BE-CDC0C9F328D3}"/>
          </ac:grpSpMkLst>
        </pc:grpChg>
      </pc:sldChg>
      <pc:sldChg chg="addSp delSp modSp mod">
        <pc:chgData name="Parthiv Rishi" userId="cb86608dd2f9f48b" providerId="LiveId" clId="{C754692A-840A-44E1-8DA3-A1C1D3FE1899}" dt="2025-11-03T15:06:11.442" v="74" actId="12"/>
        <pc:sldMkLst>
          <pc:docMk/>
          <pc:sldMk cId="0" sldId="260"/>
        </pc:sldMkLst>
        <pc:spChg chg="del">
          <ac:chgData name="Parthiv Rishi" userId="cb86608dd2f9f48b" providerId="LiveId" clId="{C754692A-840A-44E1-8DA3-A1C1D3FE1899}" dt="2025-11-03T14:17:50.433" v="56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rthiv Rishi" userId="cb86608dd2f9f48b" providerId="LiveId" clId="{C754692A-840A-44E1-8DA3-A1C1D3FE1899}" dt="2025-11-03T14:09:59.748" v="0" actId="14100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Parthiv Rishi" userId="cb86608dd2f9f48b" providerId="LiveId" clId="{C754692A-840A-44E1-8DA3-A1C1D3FE1899}" dt="2025-11-03T15:06:11.442" v="74" actId="12"/>
          <ac:spMkLst>
            <pc:docMk/>
            <pc:sldMk cId="0" sldId="260"/>
            <ac:spMk id="6" creationId="{512CC4E9-F58F-97FA-864B-8206EB45C4BA}"/>
          </ac:spMkLst>
        </pc:spChg>
        <pc:picChg chg="add mod">
          <ac:chgData name="Parthiv Rishi" userId="cb86608dd2f9f48b" providerId="LiveId" clId="{C754692A-840A-44E1-8DA3-A1C1D3FE1899}" dt="2025-11-03T15:05:41.127" v="68" actId="1076"/>
          <ac:picMkLst>
            <pc:docMk/>
            <pc:sldMk cId="0" sldId="260"/>
            <ac:picMk id="4" creationId="{9ADC81A5-76A7-F69E-4B23-16BB7955933B}"/>
          </ac:picMkLst>
        </pc:picChg>
        <pc:picChg chg="add del">
          <ac:chgData name="Parthiv Rishi" userId="cb86608dd2f9f48b" providerId="LiveId" clId="{C754692A-840A-44E1-8DA3-A1C1D3FE1899}" dt="2025-11-03T14:17:49.468" v="55" actId="22"/>
          <ac:picMkLst>
            <pc:docMk/>
            <pc:sldMk cId="0" sldId="260"/>
            <ac:picMk id="5" creationId="{FBC6560B-CCDA-8B02-A6C4-C578F88C8E06}"/>
          </ac:picMkLst>
        </pc:picChg>
        <pc:picChg chg="add del mod">
          <ac:chgData name="Parthiv Rishi" userId="cb86608dd2f9f48b" providerId="LiveId" clId="{C754692A-840A-44E1-8DA3-A1C1D3FE1899}" dt="2025-11-03T15:05:26.222" v="66" actId="478"/>
          <ac:picMkLst>
            <pc:docMk/>
            <pc:sldMk cId="0" sldId="260"/>
            <ac:picMk id="7" creationId="{025E5168-45F1-D1DE-4CC6-6956786F8FBD}"/>
          </ac:picMkLst>
        </pc:picChg>
      </pc:sldChg>
      <pc:sldChg chg="addSp modSp new mod">
        <pc:chgData name="Parthiv Rishi" userId="cb86608dd2f9f48b" providerId="LiveId" clId="{C754692A-840A-44E1-8DA3-A1C1D3FE1899}" dt="2025-11-03T15:09:38.247" v="101" actId="6549"/>
        <pc:sldMkLst>
          <pc:docMk/>
          <pc:sldMk cId="4204322604" sldId="265"/>
        </pc:sldMkLst>
        <pc:spChg chg="add mod">
          <ac:chgData name="Parthiv Rishi" userId="cb86608dd2f9f48b" providerId="LiveId" clId="{C754692A-840A-44E1-8DA3-A1C1D3FE1899}" dt="2025-11-03T15:07:38.294" v="78" actId="1076"/>
          <ac:spMkLst>
            <pc:docMk/>
            <pc:sldMk cId="4204322604" sldId="265"/>
            <ac:spMk id="5" creationId="{B004CB62-0985-4F63-C1E9-B6037BA8C738}"/>
          </ac:spMkLst>
        </pc:spChg>
        <pc:spChg chg="add mod">
          <ac:chgData name="Parthiv Rishi" userId="cb86608dd2f9f48b" providerId="LiveId" clId="{C754692A-840A-44E1-8DA3-A1C1D3FE1899}" dt="2025-11-03T15:09:38.247" v="101" actId="6549"/>
          <ac:spMkLst>
            <pc:docMk/>
            <pc:sldMk cId="4204322604" sldId="265"/>
            <ac:spMk id="9" creationId="{F6CEE4B6-1243-EEDC-E280-56F7B6462C2C}"/>
          </ac:spMkLst>
        </pc:spChg>
        <pc:picChg chg="add mod">
          <ac:chgData name="Parthiv Rishi" userId="cb86608dd2f9f48b" providerId="LiveId" clId="{C754692A-840A-44E1-8DA3-A1C1D3FE1899}" dt="2025-11-03T15:08:11.738" v="84" actId="1076"/>
          <ac:picMkLst>
            <pc:docMk/>
            <pc:sldMk cId="4204322604" sldId="265"/>
            <ac:picMk id="3" creationId="{6D4D80B5-759E-98D8-E97F-9327BE500B30}"/>
          </ac:picMkLst>
        </pc:picChg>
        <pc:picChg chg="add mod">
          <ac:chgData name="Parthiv Rishi" userId="cb86608dd2f9f48b" providerId="LiveId" clId="{C754692A-840A-44E1-8DA3-A1C1D3FE1899}" dt="2025-11-03T15:08:15.790" v="86" actId="14100"/>
          <ac:picMkLst>
            <pc:docMk/>
            <pc:sldMk cId="4204322604" sldId="265"/>
            <ac:picMk id="7" creationId="{3FF2572F-11C1-117F-75D2-819F99495282}"/>
          </ac:picMkLst>
        </pc:picChg>
      </pc:sldChg>
      <pc:sldChg chg="addSp modSp new mod">
        <pc:chgData name="Parthiv Rishi" userId="cb86608dd2f9f48b" providerId="LiveId" clId="{C754692A-840A-44E1-8DA3-A1C1D3FE1899}" dt="2025-11-03T15:12:04.858" v="115" actId="1076"/>
        <pc:sldMkLst>
          <pc:docMk/>
          <pc:sldMk cId="2709885669" sldId="266"/>
        </pc:sldMkLst>
        <pc:spChg chg="add mod">
          <ac:chgData name="Parthiv Rishi" userId="cb86608dd2f9f48b" providerId="LiveId" clId="{C754692A-840A-44E1-8DA3-A1C1D3FE1899}" dt="2025-11-03T15:11:02.317" v="110" actId="20577"/>
          <ac:spMkLst>
            <pc:docMk/>
            <pc:sldMk cId="2709885669" sldId="266"/>
            <ac:spMk id="5" creationId="{ECE71A9E-3F73-8417-9EB5-3A421FEFB6BF}"/>
          </ac:spMkLst>
        </pc:spChg>
        <pc:spChg chg="add mod">
          <ac:chgData name="Parthiv Rishi" userId="cb86608dd2f9f48b" providerId="LiveId" clId="{C754692A-840A-44E1-8DA3-A1C1D3FE1899}" dt="2025-11-03T15:12:04.858" v="115" actId="1076"/>
          <ac:spMkLst>
            <pc:docMk/>
            <pc:sldMk cId="2709885669" sldId="266"/>
            <ac:spMk id="9" creationId="{6A73E353-6DC6-6B96-9055-0CD3D9C4D6E8}"/>
          </ac:spMkLst>
        </pc:spChg>
        <pc:picChg chg="add mod">
          <ac:chgData name="Parthiv Rishi" userId="cb86608dd2f9f48b" providerId="LiveId" clId="{C754692A-840A-44E1-8DA3-A1C1D3FE1899}" dt="2025-11-03T15:10:03.295" v="105" actId="14100"/>
          <ac:picMkLst>
            <pc:docMk/>
            <pc:sldMk cId="2709885669" sldId="266"/>
            <ac:picMk id="3" creationId="{A8B4E3D4-1681-E76A-4F08-E71B9147B497}"/>
          </ac:picMkLst>
        </pc:picChg>
        <pc:picChg chg="add mod">
          <ac:chgData name="Parthiv Rishi" userId="cb86608dd2f9f48b" providerId="LiveId" clId="{C754692A-840A-44E1-8DA3-A1C1D3FE1899}" dt="2025-11-03T15:11:40.316" v="113" actId="14100"/>
          <ac:picMkLst>
            <pc:docMk/>
            <pc:sldMk cId="2709885669" sldId="266"/>
            <ac:picMk id="7" creationId="{598E3198-71F4-9E47-6948-C9964D9FC398}"/>
          </ac:picMkLst>
        </pc:picChg>
      </pc:sldChg>
      <pc:sldChg chg="addSp modSp new mod">
        <pc:chgData name="Parthiv Rishi" userId="cb86608dd2f9f48b" providerId="LiveId" clId="{C754692A-840A-44E1-8DA3-A1C1D3FE1899}" dt="2025-11-03T15:13:18.774" v="124" actId="1076"/>
        <pc:sldMkLst>
          <pc:docMk/>
          <pc:sldMk cId="2714656573" sldId="267"/>
        </pc:sldMkLst>
        <pc:spChg chg="add mod">
          <ac:chgData name="Parthiv Rishi" userId="cb86608dd2f9f48b" providerId="LiveId" clId="{C754692A-840A-44E1-8DA3-A1C1D3FE1899}" dt="2025-11-03T15:13:18.774" v="124" actId="1076"/>
          <ac:spMkLst>
            <pc:docMk/>
            <pc:sldMk cId="2714656573" sldId="267"/>
            <ac:spMk id="5" creationId="{09579537-7254-A81E-F761-265509BED711}"/>
          </ac:spMkLst>
        </pc:spChg>
        <pc:picChg chg="add mod">
          <ac:chgData name="Parthiv Rishi" userId="cb86608dd2f9f48b" providerId="LiveId" clId="{C754692A-840A-44E1-8DA3-A1C1D3FE1899}" dt="2025-11-03T15:13:13.971" v="123" actId="1076"/>
          <ac:picMkLst>
            <pc:docMk/>
            <pc:sldMk cId="2714656573" sldId="267"/>
            <ac:picMk id="3" creationId="{39237DCF-9CB2-AED2-30A2-DE99F38974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D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494310"/>
            <a:ext cx="18288000" cy="0"/>
          </a:xfrm>
          <a:prstGeom prst="line">
            <a:avLst/>
          </a:prstGeom>
          <a:ln w="28575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0093927" y="1364915"/>
            <a:ext cx="6357979" cy="8549850"/>
          </a:xfrm>
          <a:custGeom>
            <a:avLst/>
            <a:gdLst/>
            <a:ahLst/>
            <a:cxnLst/>
            <a:rect l="l" t="t" r="r" b="b"/>
            <a:pathLst>
              <a:path w="6357979" h="8549850">
                <a:moveTo>
                  <a:pt x="6357980" y="0"/>
                </a:moveTo>
                <a:lnTo>
                  <a:pt x="0" y="0"/>
                </a:lnTo>
                <a:lnTo>
                  <a:pt x="0" y="8549850"/>
                </a:lnTo>
                <a:lnTo>
                  <a:pt x="6357980" y="8549850"/>
                </a:lnTo>
                <a:lnTo>
                  <a:pt x="63579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6835967" y="1028700"/>
            <a:ext cx="423333" cy="105833"/>
          </a:xfrm>
          <a:custGeom>
            <a:avLst/>
            <a:gdLst/>
            <a:ahLst/>
            <a:cxnLst/>
            <a:rect l="l" t="t" r="r" b="b"/>
            <a:pathLst>
              <a:path w="423333" h="105833">
                <a:moveTo>
                  <a:pt x="0" y="0"/>
                </a:moveTo>
                <a:lnTo>
                  <a:pt x="423333" y="0"/>
                </a:lnTo>
                <a:lnTo>
                  <a:pt x="423333" y="105833"/>
                </a:lnTo>
                <a:lnTo>
                  <a:pt x="0" y="10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2713740"/>
            <a:ext cx="8115300" cy="3197927"/>
            <a:chOff x="0" y="0"/>
            <a:chExt cx="10820400" cy="4263902"/>
          </a:xfrm>
        </p:grpSpPr>
        <p:sp>
          <p:nvSpPr>
            <p:cNvPr id="6" name="TextBox 6"/>
            <p:cNvSpPr txBox="1"/>
            <p:nvPr/>
          </p:nvSpPr>
          <p:spPr>
            <a:xfrm>
              <a:off x="0" y="3631654"/>
              <a:ext cx="9775697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Daily, Weekly, and Monthly Planner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7150"/>
              <a:ext cx="10820400" cy="32678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83"/>
                </a:lnSpc>
              </a:pPr>
              <a:r>
                <a:rPr lang="en-US" sz="4599" b="1" dirty="0">
                  <a:solidFill>
                    <a:srgbClr val="191919"/>
                  </a:solidFill>
                  <a:latin typeface="Neue Machina Ultra-Bold"/>
                  <a:ea typeface="Neue Machina Ultra-Bold"/>
                  <a:cs typeface="Neue Machina Ultra-Bold"/>
                  <a:sym typeface="Neue Machina Ultra-Bold"/>
                </a:rPr>
                <a:t>Food Trends</a:t>
              </a:r>
              <a:r>
                <a:rPr lang="en-US" sz="4599" dirty="0">
                  <a:solidFill>
                    <a:srgbClr val="191919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: Understanding Customer Preferences in Food and Beverage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163050"/>
            <a:ext cx="936634" cy="476260"/>
            <a:chOff x="0" y="0"/>
            <a:chExt cx="1248845" cy="635013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48845" cy="635013"/>
              <a:chOff x="0" y="0"/>
              <a:chExt cx="3763941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763941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3763941" h="1913890">
                    <a:moveTo>
                      <a:pt x="3763941" y="956945"/>
                    </a:moveTo>
                    <a:cubicBezTo>
                      <a:pt x="3763941" y="1485392"/>
                      <a:pt x="3335570" y="1913890"/>
                      <a:pt x="2806996" y="1913890"/>
                    </a:cubicBezTo>
                    <a:lnTo>
                      <a:pt x="956945" y="1913890"/>
                    </a:lnTo>
                    <a:cubicBezTo>
                      <a:pt x="428371" y="1913890"/>
                      <a:pt x="0" y="1485392"/>
                      <a:pt x="0" y="956945"/>
                    </a:cubicBezTo>
                    <a:cubicBezTo>
                      <a:pt x="0" y="428371"/>
                      <a:pt x="428371" y="0"/>
                      <a:pt x="956945" y="0"/>
                    </a:cubicBezTo>
                    <a:lnTo>
                      <a:pt x="2806996" y="0"/>
                    </a:lnTo>
                    <a:cubicBezTo>
                      <a:pt x="3335443" y="0"/>
                      <a:pt x="3763941" y="428371"/>
                      <a:pt x="3763941" y="956945"/>
                    </a:cubicBezTo>
                    <a:close/>
                  </a:path>
                </a:pathLst>
              </a:custGeom>
              <a:solidFill>
                <a:srgbClr val="191919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19746" y="183068"/>
              <a:ext cx="609353" cy="268877"/>
            </a:xfrm>
            <a:custGeom>
              <a:avLst/>
              <a:gdLst/>
              <a:ahLst/>
              <a:cxnLst/>
              <a:rect l="l" t="t" r="r" b="b"/>
              <a:pathLst>
                <a:path w="609353" h="268877">
                  <a:moveTo>
                    <a:pt x="0" y="0"/>
                  </a:moveTo>
                  <a:lnTo>
                    <a:pt x="609353" y="0"/>
                  </a:lnTo>
                  <a:lnTo>
                    <a:pt x="609353" y="268877"/>
                  </a:lnTo>
                  <a:lnTo>
                    <a:pt x="0" y="268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92F7281E-2810-0BBE-F886-44600EB0B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90600" y="6417501"/>
            <a:ext cx="7331773" cy="1143000"/>
          </a:xfrm>
        </p:spPr>
        <p:txBody>
          <a:bodyPr>
            <a:normAutofit/>
          </a:bodyPr>
          <a:lstStyle/>
          <a:p>
            <a:r>
              <a:rPr lang="en-IN" sz="3600" b="1" dirty="0"/>
              <a:t>K N Parthiv Rishi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1007" y="2942805"/>
            <a:ext cx="8115300" cy="2994551"/>
            <a:chOff x="0" y="0"/>
            <a:chExt cx="2679082" cy="988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79082" cy="988583"/>
            </a:xfrm>
            <a:custGeom>
              <a:avLst/>
              <a:gdLst/>
              <a:ahLst/>
              <a:cxnLst/>
              <a:rect l="l" t="t" r="r" b="b"/>
              <a:pathLst>
                <a:path w="2679082" h="988583">
                  <a:moveTo>
                    <a:pt x="2554622" y="988583"/>
                  </a:moveTo>
                  <a:lnTo>
                    <a:pt x="124460" y="988583"/>
                  </a:lnTo>
                  <a:cubicBezTo>
                    <a:pt x="55880" y="988583"/>
                    <a:pt x="0" y="932703"/>
                    <a:pt x="0" y="864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54622" y="0"/>
                  </a:lnTo>
                  <a:cubicBezTo>
                    <a:pt x="2623202" y="0"/>
                    <a:pt x="2679082" y="55880"/>
                    <a:pt x="2679082" y="124460"/>
                  </a:cubicBezTo>
                  <a:lnTo>
                    <a:pt x="2679082" y="864123"/>
                  </a:lnTo>
                  <a:cubicBezTo>
                    <a:pt x="2679082" y="932703"/>
                    <a:pt x="2623202" y="988583"/>
                    <a:pt x="2554622" y="9885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6835967" y="1028700"/>
            <a:ext cx="423333" cy="105833"/>
          </a:xfrm>
          <a:custGeom>
            <a:avLst/>
            <a:gdLst/>
            <a:ahLst/>
            <a:cxnLst/>
            <a:rect l="l" t="t" r="r" b="b"/>
            <a:pathLst>
              <a:path w="423333" h="105833">
                <a:moveTo>
                  <a:pt x="0" y="0"/>
                </a:moveTo>
                <a:lnTo>
                  <a:pt x="423333" y="0"/>
                </a:lnTo>
                <a:lnTo>
                  <a:pt x="423333" y="105833"/>
                </a:lnTo>
                <a:lnTo>
                  <a:pt x="0" y="10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5086350" y="6335846"/>
            <a:ext cx="7919915" cy="2922454"/>
            <a:chOff x="0" y="0"/>
            <a:chExt cx="2679082" cy="9885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9082" cy="988583"/>
            </a:xfrm>
            <a:custGeom>
              <a:avLst/>
              <a:gdLst/>
              <a:ahLst/>
              <a:cxnLst/>
              <a:rect l="l" t="t" r="r" b="b"/>
              <a:pathLst>
                <a:path w="2679082" h="988583">
                  <a:moveTo>
                    <a:pt x="2554622" y="988583"/>
                  </a:moveTo>
                  <a:lnTo>
                    <a:pt x="124460" y="988583"/>
                  </a:lnTo>
                  <a:cubicBezTo>
                    <a:pt x="55880" y="988583"/>
                    <a:pt x="0" y="932703"/>
                    <a:pt x="0" y="864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54622" y="0"/>
                  </a:lnTo>
                  <a:cubicBezTo>
                    <a:pt x="2623202" y="0"/>
                    <a:pt x="2679082" y="55880"/>
                    <a:pt x="2679082" y="124460"/>
                  </a:cubicBezTo>
                  <a:lnTo>
                    <a:pt x="2679082" y="864123"/>
                  </a:lnTo>
                  <a:cubicBezTo>
                    <a:pt x="2679082" y="932703"/>
                    <a:pt x="2623202" y="988583"/>
                    <a:pt x="2554622" y="9885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39385" y="2978886"/>
            <a:ext cx="7919915" cy="2922454"/>
            <a:chOff x="0" y="0"/>
            <a:chExt cx="2679082" cy="9885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79082" cy="988583"/>
            </a:xfrm>
            <a:custGeom>
              <a:avLst/>
              <a:gdLst/>
              <a:ahLst/>
              <a:cxnLst/>
              <a:rect l="l" t="t" r="r" b="b"/>
              <a:pathLst>
                <a:path w="2679082" h="988583">
                  <a:moveTo>
                    <a:pt x="2554622" y="988583"/>
                  </a:moveTo>
                  <a:lnTo>
                    <a:pt x="124460" y="988583"/>
                  </a:lnTo>
                  <a:cubicBezTo>
                    <a:pt x="55880" y="988583"/>
                    <a:pt x="0" y="932703"/>
                    <a:pt x="0" y="8641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554622" y="0"/>
                  </a:lnTo>
                  <a:cubicBezTo>
                    <a:pt x="2623202" y="0"/>
                    <a:pt x="2679082" y="55880"/>
                    <a:pt x="2679082" y="124460"/>
                  </a:cubicBezTo>
                  <a:lnTo>
                    <a:pt x="2679082" y="864123"/>
                  </a:lnTo>
                  <a:cubicBezTo>
                    <a:pt x="2679082" y="932703"/>
                    <a:pt x="2623202" y="988583"/>
                    <a:pt x="2554622" y="98858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1511809" y="3736214"/>
            <a:ext cx="1599772" cy="1407799"/>
          </a:xfrm>
          <a:custGeom>
            <a:avLst/>
            <a:gdLst/>
            <a:ahLst/>
            <a:cxnLst/>
            <a:rect l="l" t="t" r="r" b="b"/>
            <a:pathLst>
              <a:path w="1599772" h="1407799">
                <a:moveTo>
                  <a:pt x="0" y="0"/>
                </a:moveTo>
                <a:lnTo>
                  <a:pt x="1599772" y="0"/>
                </a:lnTo>
                <a:lnTo>
                  <a:pt x="1599772" y="1407799"/>
                </a:lnTo>
                <a:lnTo>
                  <a:pt x="0" y="1407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9741837" y="3661262"/>
            <a:ext cx="1666803" cy="1557703"/>
          </a:xfrm>
          <a:custGeom>
            <a:avLst/>
            <a:gdLst/>
            <a:ahLst/>
            <a:cxnLst/>
            <a:rect l="l" t="t" r="r" b="b"/>
            <a:pathLst>
              <a:path w="1666803" h="1557703">
                <a:moveTo>
                  <a:pt x="0" y="0"/>
                </a:moveTo>
                <a:lnTo>
                  <a:pt x="1666802" y="0"/>
                </a:lnTo>
                <a:lnTo>
                  <a:pt x="1666802" y="1557703"/>
                </a:lnTo>
                <a:lnTo>
                  <a:pt x="0" y="1557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869225" y="7086274"/>
            <a:ext cx="1761088" cy="1226358"/>
          </a:xfrm>
          <a:custGeom>
            <a:avLst/>
            <a:gdLst/>
            <a:ahLst/>
            <a:cxnLst/>
            <a:rect l="l" t="t" r="r" b="b"/>
            <a:pathLst>
              <a:path w="1761088" h="1226358">
                <a:moveTo>
                  <a:pt x="0" y="0"/>
                </a:moveTo>
                <a:lnTo>
                  <a:pt x="1761088" y="0"/>
                </a:lnTo>
                <a:lnTo>
                  <a:pt x="1761088" y="1226358"/>
                </a:lnTo>
                <a:lnTo>
                  <a:pt x="0" y="12263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00" y="1028700"/>
            <a:ext cx="132032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 Introduction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410921" y="3064821"/>
            <a:ext cx="4746246" cy="3040378"/>
            <a:chOff x="0" y="0"/>
            <a:chExt cx="6328328" cy="4053837"/>
          </a:xfrm>
        </p:grpSpPr>
        <p:sp>
          <p:nvSpPr>
            <p:cNvPr id="14" name="TextBox 14"/>
            <p:cNvSpPr txBox="1"/>
            <p:nvPr/>
          </p:nvSpPr>
          <p:spPr>
            <a:xfrm>
              <a:off x="0" y="846083"/>
              <a:ext cx="6328328" cy="3207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31801" lvl="1" indent="-215901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191919"/>
                  </a:solidFill>
                  <a:latin typeface="Telegraf"/>
                  <a:ea typeface="Telegraf"/>
                  <a:cs typeface="Telegraf"/>
                  <a:sym typeface="Telegraf"/>
                </a:rPr>
                <a:t>To analyze consumer behaviour and emerging trends in the food and beverage industry.</a:t>
              </a:r>
            </a:p>
            <a:p>
              <a:pPr marL="431801" lvl="1" indent="-215901" algn="l">
                <a:lnSpc>
                  <a:spcPts val="3000"/>
                </a:lnSpc>
                <a:buFont typeface="Arial"/>
                <a:buChar char="•"/>
              </a:pPr>
              <a:r>
                <a:rPr lang="en-US" sz="2000">
                  <a:solidFill>
                    <a:srgbClr val="191919"/>
                  </a:solidFill>
                  <a:latin typeface="Telegraf"/>
                  <a:ea typeface="Telegraf"/>
                  <a:cs typeface="Telegraf"/>
                  <a:sym typeface="Telegraf"/>
                </a:rPr>
                <a:t>Identify what drives customers’ food choices — taste, price, ratings, and availability.</a:t>
              </a:r>
            </a:p>
            <a:p>
              <a:pPr algn="l">
                <a:lnSpc>
                  <a:spcPts val="1200"/>
                </a:lnSpc>
              </a:pPr>
              <a:endParaRPr lang="en-US" sz="20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6328328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>
                  <a:solidFill>
                    <a:srgbClr val="191919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Objective: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02115" y="6884020"/>
            <a:ext cx="4746246" cy="1826106"/>
            <a:chOff x="0" y="0"/>
            <a:chExt cx="6328328" cy="2434808"/>
          </a:xfrm>
        </p:grpSpPr>
        <p:sp>
          <p:nvSpPr>
            <p:cNvPr id="17" name="TextBox 17"/>
            <p:cNvSpPr txBox="1"/>
            <p:nvPr/>
          </p:nvSpPr>
          <p:spPr>
            <a:xfrm>
              <a:off x="0" y="846039"/>
              <a:ext cx="6328328" cy="1588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191919"/>
                  </a:solidFill>
                  <a:latin typeface="Telegraf"/>
                  <a:ea typeface="Telegraf"/>
                  <a:cs typeface="Telegraf"/>
                  <a:sym typeface="Telegraf"/>
                </a:rPr>
                <a:t>Provides actionable insights for businesses to improve menu design, pricing, and customer satisfaction.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0"/>
              <a:ext cx="6328328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>
                  <a:solidFill>
                    <a:srgbClr val="191919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Outcome: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858802" y="3126977"/>
            <a:ext cx="4746246" cy="2626206"/>
            <a:chOff x="0" y="0"/>
            <a:chExt cx="6328328" cy="3501608"/>
          </a:xfrm>
        </p:grpSpPr>
        <p:sp>
          <p:nvSpPr>
            <p:cNvPr id="20" name="TextBox 20"/>
            <p:cNvSpPr txBox="1"/>
            <p:nvPr/>
          </p:nvSpPr>
          <p:spPr>
            <a:xfrm>
              <a:off x="0" y="846039"/>
              <a:ext cx="6328328" cy="26555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2" lvl="1" indent="-226696" algn="l">
                <a:lnSpc>
                  <a:spcPts val="3150"/>
                </a:lnSpc>
                <a:buFont typeface="Arial"/>
                <a:buChar char="•"/>
              </a:pPr>
              <a:r>
                <a:rPr lang="en-US" sz="2100">
                  <a:solidFill>
                    <a:srgbClr val="191919"/>
                  </a:solidFill>
                  <a:latin typeface="Telegraf"/>
                  <a:ea typeface="Telegraf"/>
                  <a:cs typeface="Telegraf"/>
                  <a:sym typeface="Telegraf"/>
                </a:rPr>
                <a:t>Used Power BI for interactive data visualization.</a:t>
              </a:r>
            </a:p>
            <a:p>
              <a:pPr marL="453392" lvl="1" indent="-226696" algn="l">
                <a:lnSpc>
                  <a:spcPts val="3150"/>
                </a:lnSpc>
                <a:buFont typeface="Arial"/>
                <a:buChar char="•"/>
              </a:pPr>
              <a:r>
                <a:rPr lang="en-US" sz="2100">
                  <a:solidFill>
                    <a:srgbClr val="191919"/>
                  </a:solidFill>
                  <a:latin typeface="Telegraf"/>
                  <a:ea typeface="Telegraf"/>
                  <a:cs typeface="Telegraf"/>
                  <a:sym typeface="Telegraf"/>
                </a:rPr>
                <a:t>Analyzed patterns in pricing, ratings, and category popularity.</a:t>
              </a:r>
            </a:p>
            <a:p>
              <a:pPr algn="l">
                <a:lnSpc>
                  <a:spcPts val="3150"/>
                </a:lnSpc>
              </a:pPr>
              <a:endParaRPr lang="en-US" sz="21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0"/>
              <a:ext cx="6328328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-US" sz="3000">
                  <a:solidFill>
                    <a:srgbClr val="191919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Approach: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D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2122" y="1469701"/>
            <a:ext cx="16297339" cy="8022105"/>
            <a:chOff x="0" y="0"/>
            <a:chExt cx="3673852" cy="1808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73852" cy="1808395"/>
            </a:xfrm>
            <a:custGeom>
              <a:avLst/>
              <a:gdLst/>
              <a:ahLst/>
              <a:cxnLst/>
              <a:rect l="l" t="t" r="r" b="b"/>
              <a:pathLst>
                <a:path w="3673852" h="1808395">
                  <a:moveTo>
                    <a:pt x="3549391" y="1808395"/>
                  </a:moveTo>
                  <a:lnTo>
                    <a:pt x="124460" y="1808395"/>
                  </a:lnTo>
                  <a:cubicBezTo>
                    <a:pt x="55880" y="1808395"/>
                    <a:pt x="0" y="1752515"/>
                    <a:pt x="0" y="16839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49392" y="0"/>
                  </a:lnTo>
                  <a:cubicBezTo>
                    <a:pt x="3617972" y="0"/>
                    <a:pt x="3673852" y="55880"/>
                    <a:pt x="3673852" y="124460"/>
                  </a:cubicBezTo>
                  <a:lnTo>
                    <a:pt x="3673852" y="1683935"/>
                  </a:lnTo>
                  <a:cubicBezTo>
                    <a:pt x="3673852" y="1752515"/>
                    <a:pt x="3617972" y="1808395"/>
                    <a:pt x="3549392" y="1808395"/>
                  </a:cubicBezTo>
                  <a:close/>
                </a:path>
              </a:pathLst>
            </a:custGeom>
            <a:solidFill>
              <a:srgbClr val="FFEFD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11736965" y="3865195"/>
            <a:ext cx="4480714" cy="3731213"/>
          </a:xfrm>
          <a:custGeom>
            <a:avLst/>
            <a:gdLst/>
            <a:ahLst/>
            <a:cxnLst/>
            <a:rect l="l" t="t" r="r" b="b"/>
            <a:pathLst>
              <a:path w="4480714" h="3731213">
                <a:moveTo>
                  <a:pt x="4480714" y="0"/>
                </a:moveTo>
                <a:lnTo>
                  <a:pt x="0" y="0"/>
                </a:lnTo>
                <a:lnTo>
                  <a:pt x="0" y="3731213"/>
                </a:lnTo>
                <a:lnTo>
                  <a:pt x="4480714" y="3731213"/>
                </a:lnTo>
                <a:lnTo>
                  <a:pt x="44807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2154902"/>
            <a:ext cx="11352208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19"/>
              </a:lnSpc>
            </a:pPr>
            <a:r>
              <a:rPr lang="en-US" sz="7099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 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589555"/>
            <a:ext cx="12221031" cy="5446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b="1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Current Scena</a:t>
            </a: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00" b="1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io: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Food preferences are rapidly changing due to digital influence and lifestyle shifts.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Customers value quality, price, ratings, and health more than ever.</a:t>
            </a:r>
          </a:p>
          <a:p>
            <a:pPr algn="l">
              <a:lnSpc>
                <a:spcPts val="3900"/>
              </a:lnSpc>
            </a:pPr>
            <a:r>
              <a:rPr lang="en-US" sz="2600" b="1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Problem: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Businesses lack data-driven insights to track changing preferences.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Inability to predict demand patterns or satisfaction drivers.</a:t>
            </a:r>
          </a:p>
          <a:p>
            <a:pPr algn="l">
              <a:lnSpc>
                <a:spcPts val="3900"/>
              </a:lnSpc>
            </a:pPr>
            <a:r>
              <a:rPr lang="en-US" sz="2600" b="1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Need: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A structured approach using analytics and visualization to uncover hidden patterns and improve decision-making.</a:t>
            </a:r>
          </a:p>
          <a:p>
            <a:pPr marL="539754" lvl="1" indent="-269877" algn="l">
              <a:lnSpc>
                <a:spcPts val="3750"/>
              </a:lnSpc>
              <a:buFont typeface="Arial"/>
              <a:buChar char="•"/>
            </a:pPr>
            <a:endParaRPr lang="en-US" sz="2600">
              <a:solidFill>
                <a:srgbClr val="191919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5065" y="2326225"/>
            <a:ext cx="17017870" cy="7586716"/>
            <a:chOff x="0" y="0"/>
            <a:chExt cx="5007965" cy="22325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7965" cy="2232595"/>
            </a:xfrm>
            <a:custGeom>
              <a:avLst/>
              <a:gdLst/>
              <a:ahLst/>
              <a:cxnLst/>
              <a:rect l="l" t="t" r="r" b="b"/>
              <a:pathLst>
                <a:path w="5007965" h="2232595">
                  <a:moveTo>
                    <a:pt x="4883505" y="2232595"/>
                  </a:moveTo>
                  <a:lnTo>
                    <a:pt x="124460" y="2232595"/>
                  </a:lnTo>
                  <a:cubicBezTo>
                    <a:pt x="55880" y="2232595"/>
                    <a:pt x="0" y="2176715"/>
                    <a:pt x="0" y="210813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883505" y="0"/>
                  </a:lnTo>
                  <a:cubicBezTo>
                    <a:pt x="4952085" y="0"/>
                    <a:pt x="5007965" y="55880"/>
                    <a:pt x="5007965" y="124460"/>
                  </a:cubicBezTo>
                  <a:lnTo>
                    <a:pt x="5007965" y="2108135"/>
                  </a:lnTo>
                  <a:cubicBezTo>
                    <a:pt x="5007965" y="2176715"/>
                    <a:pt x="4952085" y="2232595"/>
                    <a:pt x="4883505" y="2232595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16835967" y="1028700"/>
            <a:ext cx="423333" cy="105833"/>
          </a:xfrm>
          <a:custGeom>
            <a:avLst/>
            <a:gdLst/>
            <a:ahLst/>
            <a:cxnLst/>
            <a:rect l="l" t="t" r="r" b="b"/>
            <a:pathLst>
              <a:path w="423333" h="105833">
                <a:moveTo>
                  <a:pt x="0" y="0"/>
                </a:moveTo>
                <a:lnTo>
                  <a:pt x="423333" y="0"/>
                </a:lnTo>
                <a:lnTo>
                  <a:pt x="423333" y="105833"/>
                </a:lnTo>
                <a:lnTo>
                  <a:pt x="0" y="10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1028700"/>
            <a:ext cx="1446442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Tools and Technologies Used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142" y="2996798"/>
            <a:ext cx="15643174" cy="546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b="1">
                <a:solidFill>
                  <a:srgbClr val="191919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Microsoft Power BI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Created interactive dashboards for trend and customer analysis.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Used slicers, filters, and DAX measures for dynamic exploration.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2. Microsoft Excel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Data cleaning and preprocessing (missing values, formatting, derived columns).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Ensured dataset readiness for Power BI import.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3. Power Query Editor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Performed data transformation and merging within Power BI.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Enabled accurate relationships and simplified visuals.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4. DAX (Data Analysis Expressions)</a:t>
            </a:r>
          </a:p>
          <a:p>
            <a:pPr marL="561344" lvl="1" indent="-280672" algn="l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Used for calculated fields (e.g., average rating, total sales, price–rating ratio).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203304" y="743167"/>
            <a:ext cx="6598295" cy="1085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19"/>
              </a:lnSpc>
              <a:spcBef>
                <a:spcPct val="0"/>
              </a:spcBef>
            </a:pPr>
            <a:r>
              <a:rPr lang="en-US" sz="7099" b="1" dirty="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C81A5-76A7-F69E-4B23-16BB79559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14587"/>
            <a:ext cx="9553575" cy="5457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2CC4E9-F58F-97FA-864B-8206EB45C4BA}"/>
              </a:ext>
            </a:extLst>
          </p:cNvPr>
          <p:cNvSpPr txBox="1"/>
          <p:nvPr/>
        </p:nvSpPr>
        <p:spPr>
          <a:xfrm>
            <a:off x="10439400" y="2881341"/>
            <a:ext cx="7086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is a very comprehensive overview of customer nutrition and meal preference.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shows total calorie targets across all users using KPI indicators.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Insights get more personalized with Slicers for Age, Gender, and Dietary Preference.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donut charts represent Protein, Fat, and Carbohydrates intake percentages.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Another donut portrays the contribution Fiber, Sugar, and Sodium do in diets.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of the Lunch and breakfast suggestion tables gives the foods with their ratings and prices.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helps identify which meals together are healthy and affordable.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uncovers eating preference differences between male and female users Facilitates understanding of the connection between user demography and meal choices.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Paves the way for further investigation of nutrition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4D80B5-759E-98D8-E97F-9327BE50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94" y="190500"/>
            <a:ext cx="8326120" cy="47565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04CB62-0985-4F63-C1E9-B6037BA8C738}"/>
              </a:ext>
            </a:extLst>
          </p:cNvPr>
          <p:cNvSpPr txBox="1"/>
          <p:nvPr/>
        </p:nvSpPr>
        <p:spPr>
          <a:xfrm>
            <a:off x="8864253" y="796141"/>
            <a:ext cx="9144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dashboard aims to compare dietary groups such as Omnivore, Vegetarian, Vegan, and Pescatarian. </a:t>
            </a:r>
          </a:p>
          <a:p>
            <a:r>
              <a:rPr lang="en-IN" dirty="0"/>
              <a:t>The KPI cards summarize average calories, total protein, and total fat consumed across all subjects. </a:t>
            </a:r>
          </a:p>
          <a:p>
            <a:r>
              <a:rPr lang="en-IN" dirty="0"/>
              <a:t>The Tree Map provides disease distribution by diet type, pinpointing at-risk categories. </a:t>
            </a:r>
          </a:p>
          <a:p>
            <a:r>
              <a:rPr lang="en-IN" dirty="0"/>
              <a:t>The donut chart serves to compare gender distribution, showing an equal level of participation among the data. </a:t>
            </a:r>
          </a:p>
          <a:p>
            <a:r>
              <a:rPr lang="en-IN" dirty="0"/>
              <a:t>The scatter plot displays sodium versus sugar levels for each disease. </a:t>
            </a:r>
          </a:p>
          <a:p>
            <a:r>
              <a:rPr lang="en-IN" dirty="0"/>
              <a:t>The snack suggestion table presents well-known and highly rated snack options. </a:t>
            </a:r>
          </a:p>
          <a:p>
            <a:r>
              <a:rPr lang="en-IN" dirty="0"/>
              <a:t>The age and weight of respondents are broken down by a bar chart, providing a demographic perspective. </a:t>
            </a:r>
          </a:p>
          <a:p>
            <a:r>
              <a:rPr lang="en-IN" dirty="0"/>
              <a:t>Gauge chart shows the mean rating for various foods and tracks trends in satisfaction. </a:t>
            </a:r>
          </a:p>
          <a:p>
            <a:r>
              <a:rPr lang="en-IN" dirty="0"/>
              <a:t>Slightly lower disease rates in the vegetarian and vegan groups were noted. </a:t>
            </a:r>
          </a:p>
          <a:p>
            <a:r>
              <a:rPr lang="en-IN" dirty="0"/>
              <a:t>Understanding how dietary habits influence nutrition balance and health outcomes.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2572F-11C1-117F-75D2-819F99495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48" y="5339904"/>
            <a:ext cx="8533706" cy="4343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CEE4B6-1243-EEDC-E280-56F7B6462C2C}"/>
              </a:ext>
            </a:extLst>
          </p:cNvPr>
          <p:cNvSpPr txBox="1"/>
          <p:nvPr/>
        </p:nvSpPr>
        <p:spPr>
          <a:xfrm>
            <a:off x="8747414" y="5439519"/>
            <a:ext cx="85337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Analysis of macro-nutrients, protein, carbs, fat and </a:t>
            </a:r>
            <a:r>
              <a:rPr lang="en-IN" dirty="0" err="1"/>
              <a:t>fiber</a:t>
            </a:r>
            <a:r>
              <a:rPr lang="en-IN" dirty="0"/>
              <a:t> against activity level and disease occurrence.</a:t>
            </a:r>
          </a:p>
          <a:p>
            <a:r>
              <a:rPr lang="en-IN" dirty="0"/>
              <a:t>Clustered column chart compares activity level nutrient consumption.</a:t>
            </a:r>
          </a:p>
          <a:p>
            <a:r>
              <a:rPr lang="en-IN" dirty="0"/>
              <a:t>Tree Map showing total food price by the price category and therefore showing affordability distribution.</a:t>
            </a:r>
          </a:p>
          <a:p>
            <a:r>
              <a:rPr lang="en-IN" dirty="0"/>
              <a:t>Bar chart links dietary preferences with activity pattern.</a:t>
            </a:r>
          </a:p>
          <a:p>
            <a:r>
              <a:rPr lang="en-IN" dirty="0"/>
              <a:t>Table of diseases such as Diabetes, Hypertension, Obesity, etc., for analysis. </a:t>
            </a:r>
          </a:p>
          <a:p>
            <a:r>
              <a:rPr lang="en-IN" dirty="0"/>
              <a:t>Visualisation of total calorie consumption across all users as Card visual.</a:t>
            </a:r>
          </a:p>
          <a:p>
            <a:r>
              <a:rPr lang="en-IN" dirty="0"/>
              <a:t>Weight and height slider filters to dynamically explore body data.</a:t>
            </a:r>
          </a:p>
          <a:p>
            <a:r>
              <a:rPr lang="en-IN" dirty="0"/>
              <a:t>Q/A box to help quickly identify the least caloric foods for specific conditions.</a:t>
            </a:r>
          </a:p>
          <a:p>
            <a:r>
              <a:rPr lang="en-IN" dirty="0"/>
              <a:t>This highlights the association between poor diet with diseases such as hypertension or obesity.</a:t>
            </a:r>
          </a:p>
          <a:p>
            <a:r>
              <a:rPr lang="en-IN" dirty="0"/>
              <a:t>Contributes to improved understanding of how a lifestyle along with nutrition affects well-being overall.</a:t>
            </a:r>
          </a:p>
        </p:txBody>
      </p:sp>
    </p:spTree>
    <p:extLst>
      <p:ext uri="{BB962C8B-B14F-4D97-AF65-F5344CB8AC3E}">
        <p14:creationId xmlns:p14="http://schemas.microsoft.com/office/powerpoint/2010/main" val="420432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B4E3D4-1681-E76A-4F08-E71B9147B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66700"/>
            <a:ext cx="8153400" cy="4800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71A9E-3F73-8417-9EB5-3A421FEFB6BF}"/>
              </a:ext>
            </a:extLst>
          </p:cNvPr>
          <p:cNvSpPr txBox="1"/>
          <p:nvPr/>
        </p:nvSpPr>
        <p:spPr>
          <a:xfrm>
            <a:off x="8747760" y="266700"/>
            <a:ext cx="9220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Thoroughly informing themselves about trends in breakfast food and their impact on ratings, nutrient content, and cost.</a:t>
            </a:r>
          </a:p>
          <a:p>
            <a:r>
              <a:rPr lang="en-IN" dirty="0"/>
              <a:t>Average ratings for varying breakfast items are compared on an appropriate bar graph.</a:t>
            </a:r>
          </a:p>
          <a:p>
            <a:r>
              <a:rPr lang="en-IN" dirty="0"/>
              <a:t>Values of macronutrients (protein, calories, and sodium) are presented for each breakfast item via tables.</a:t>
            </a:r>
          </a:p>
          <a:p>
            <a:r>
              <a:rPr lang="en-IN" dirty="0"/>
              <a:t>A scatterplot, befitting the scheme representing money-quality trades, effectively studying sugar versus price and getting healthier choices shown.</a:t>
            </a:r>
          </a:p>
          <a:p>
            <a:r>
              <a:rPr lang="en-IN" dirty="0"/>
              <a:t>Line plotters represent the distribution of age in favour of a particular breakfast food type as per generation.</a:t>
            </a:r>
          </a:p>
          <a:p>
            <a:r>
              <a:rPr lang="en-IN" dirty="0"/>
              <a:t>With a histogram, it calculates age versus money spent bringing about their habits of being big spenders.</a:t>
            </a:r>
          </a:p>
          <a:p>
            <a:r>
              <a:rPr lang="en-IN" dirty="0"/>
              <a:t>A comparative visualization defines the concessions between categories of pricing, dietary preferences, and average ratings.</a:t>
            </a:r>
          </a:p>
          <a:p>
            <a:r>
              <a:rPr lang="en-IN" dirty="0"/>
              <a:t>Explains the relation between the profiles of those nutritious but affordable and well-liked morning foods.</a:t>
            </a:r>
          </a:p>
          <a:p>
            <a:r>
              <a:rPr lang="en-IN" dirty="0"/>
              <a:t>The costliest breakfasts fall outside the realm of highest satisfaction.</a:t>
            </a:r>
          </a:p>
          <a:p>
            <a:r>
              <a:rPr lang="en-IN" dirty="0"/>
              <a:t>These insights are very informative to supply planners at food banks looking to conceptualize a balanced and economical set of morning meals.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E3198-71F4-9E47-6948-C9964D9FC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5242257"/>
            <a:ext cx="8153400" cy="4619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3E353-6DC6-6B96-9055-0CD3D9C4D6E8}"/>
              </a:ext>
            </a:extLst>
          </p:cNvPr>
          <p:cNvSpPr txBox="1"/>
          <p:nvPr/>
        </p:nvSpPr>
        <p:spPr>
          <a:xfrm>
            <a:off x="8458200" y="598170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This dashboard connects lifestyle habits with nutritional outcomes.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KPI cards show Average BMI, % Within Calorie Target, and Average Calories.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Clustered column chart compares activity level vs. calorie intake showing higher calories for active people.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Line chart displays Activity Level vs. Average BMI, revealing how fitness level affects body index.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Donut chart splits calorie status into Within Target vs. Above Target categories. Column chart shows average protein intake across dietary preferences.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Gender slicer enables detailed comparison between males and females.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Reveals that very active individuals consume more calories but maintain healthy BMI levels.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Demonstrates link between balanced diet and meeting calorie goals.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dirty="0"/>
              <a:t>Provides actionable insights for designing personalized fitness and diet plans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885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37DCF-9CB2-AED2-30A2-DE99F3897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2144613"/>
            <a:ext cx="8709188" cy="487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579537-7254-A81E-F761-265509BED711}"/>
              </a:ext>
            </a:extLst>
          </p:cNvPr>
          <p:cNvSpPr txBox="1"/>
          <p:nvPr/>
        </p:nvSpPr>
        <p:spPr>
          <a:xfrm>
            <a:off x="8915400" y="2167473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Interrelates gender, activity, and nutrition status.</a:t>
            </a:r>
          </a:p>
          <a:p>
            <a:r>
              <a:rPr lang="en-IN" dirty="0"/>
              <a:t>Majority, that is 82.9% of the participants, remain within the limits of their calorie target; this implies a lot of balanced diets.</a:t>
            </a:r>
          </a:p>
          <a:p>
            <a:r>
              <a:rPr lang="en-IN" dirty="0"/>
              <a:t>BMI levels are highest among the sedentary and lightly active groups and especially among females.</a:t>
            </a:r>
          </a:p>
          <a:p>
            <a:r>
              <a:rPr lang="en-IN" dirty="0"/>
              <a:t>Tree maps show the nutrient distribution by meal types, where carbohydrates considerably contribute the most.</a:t>
            </a:r>
          </a:p>
          <a:p>
            <a:r>
              <a:rPr lang="en-IN" dirty="0"/>
              <a:t>For calories, the gender difference shows that females slightly score better than males in conforming to their calories.</a:t>
            </a:r>
          </a:p>
          <a:p>
            <a:r>
              <a:rPr lang="en-IN" dirty="0"/>
              <a:t>The Donut chart indicates that there are equally balanced distributions of gender over dietary preferences (≈49% female, 51% male).</a:t>
            </a:r>
          </a:p>
          <a:p>
            <a:r>
              <a:rPr lang="en-IN" dirty="0"/>
              <a:t>KPIs account for the consistency of health with calorie adherence and BMI levels.</a:t>
            </a:r>
          </a:p>
          <a:p>
            <a:r>
              <a:rPr lang="en-IN" dirty="0"/>
              <a:t>Instruction offers insight to connect activity level and meal composition to overall health outcome.</a:t>
            </a:r>
          </a:p>
          <a:p>
            <a:r>
              <a:rPr lang="en-IN" dirty="0"/>
              <a:t>Makes direct comparison possible on the patterns concerning calorie control and nutrient intake across gender in a short time.</a:t>
            </a:r>
          </a:p>
          <a:p>
            <a:r>
              <a:rPr lang="en-IN" dirty="0"/>
              <a:t>Confirm that moderate activity and a balance of meal types contribute to the achievement of healthier BMI scores.</a:t>
            </a:r>
          </a:p>
        </p:txBody>
      </p:sp>
    </p:spTree>
    <p:extLst>
      <p:ext uri="{BB962C8B-B14F-4D97-AF65-F5344CB8AC3E}">
        <p14:creationId xmlns:p14="http://schemas.microsoft.com/office/powerpoint/2010/main" val="2714656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133311"/>
            <a:ext cx="5367718" cy="6124989"/>
          </a:xfrm>
          <a:custGeom>
            <a:avLst/>
            <a:gdLst/>
            <a:ahLst/>
            <a:cxnLst/>
            <a:rect l="l" t="t" r="r" b="b"/>
            <a:pathLst>
              <a:path w="5367718" h="6124989">
                <a:moveTo>
                  <a:pt x="0" y="0"/>
                </a:moveTo>
                <a:lnTo>
                  <a:pt x="5367718" y="0"/>
                </a:lnTo>
                <a:lnTo>
                  <a:pt x="5367718" y="6124989"/>
                </a:lnTo>
                <a:lnTo>
                  <a:pt x="0" y="6124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28700" y="1028700"/>
            <a:ext cx="109814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Benefits of the Project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396418" y="2886438"/>
            <a:ext cx="10959722" cy="6618735"/>
            <a:chOff x="0" y="0"/>
            <a:chExt cx="3201615" cy="19335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01615" cy="1933502"/>
            </a:xfrm>
            <a:custGeom>
              <a:avLst/>
              <a:gdLst/>
              <a:ahLst/>
              <a:cxnLst/>
              <a:rect l="l" t="t" r="r" b="b"/>
              <a:pathLst>
                <a:path w="3201615" h="1933502">
                  <a:moveTo>
                    <a:pt x="3077155" y="1933501"/>
                  </a:moveTo>
                  <a:lnTo>
                    <a:pt x="124460" y="1933501"/>
                  </a:lnTo>
                  <a:cubicBezTo>
                    <a:pt x="55880" y="1933501"/>
                    <a:pt x="0" y="1877621"/>
                    <a:pt x="0" y="180904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77155" y="0"/>
                  </a:lnTo>
                  <a:cubicBezTo>
                    <a:pt x="3145735" y="0"/>
                    <a:pt x="3201615" y="55880"/>
                    <a:pt x="3201615" y="124460"/>
                  </a:cubicBezTo>
                  <a:lnTo>
                    <a:pt x="3201615" y="1809042"/>
                  </a:lnTo>
                  <a:cubicBezTo>
                    <a:pt x="3201615" y="1877621"/>
                    <a:pt x="3145735" y="1933502"/>
                    <a:pt x="3077155" y="193350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50149" y="3705865"/>
            <a:ext cx="10252259" cy="4595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1. Data-Driven Decision Making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Empowers restaurants to make choices based on actual data,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 not assumptions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2. Customer Preference Insights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Reveals what customers like/dislike using ratings and reviews.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3. Market Trend Identification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Detects seasonal demand and emerging food trends.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4. Strategic Business Improvement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Optimizes pricing, promotions, and menu offerings.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5. Interactive Visualization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Simplifies complex datasets into clear, engaging</a:t>
            </a:r>
          </a:p>
          <a:p>
            <a:pPr algn="just">
              <a:lnSpc>
                <a:spcPts val="3012"/>
              </a:lnSpc>
              <a:spcBef>
                <a:spcPct val="0"/>
              </a:spcBef>
            </a:pPr>
            <a:r>
              <a:rPr lang="en-US" sz="251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 visuals for stakeholders.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D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35967" y="1028700"/>
            <a:ext cx="423333" cy="105833"/>
          </a:xfrm>
          <a:custGeom>
            <a:avLst/>
            <a:gdLst/>
            <a:ahLst/>
            <a:cxnLst/>
            <a:rect l="l" t="t" r="r" b="b"/>
            <a:pathLst>
              <a:path w="423333" h="105833">
                <a:moveTo>
                  <a:pt x="0" y="0"/>
                </a:moveTo>
                <a:lnTo>
                  <a:pt x="423333" y="0"/>
                </a:lnTo>
                <a:lnTo>
                  <a:pt x="423333" y="105833"/>
                </a:lnTo>
                <a:lnTo>
                  <a:pt x="0" y="10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0" y="9229725"/>
            <a:ext cx="18288000" cy="0"/>
          </a:xfrm>
          <a:prstGeom prst="line">
            <a:avLst/>
          </a:prstGeom>
          <a:ln w="28575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4103994" y="3246817"/>
            <a:ext cx="13155306" cy="5153613"/>
            <a:chOff x="0" y="0"/>
            <a:chExt cx="4450066" cy="17433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50067" cy="1743321"/>
            </a:xfrm>
            <a:custGeom>
              <a:avLst/>
              <a:gdLst/>
              <a:ahLst/>
              <a:cxnLst/>
              <a:rect l="l" t="t" r="r" b="b"/>
              <a:pathLst>
                <a:path w="4450067" h="1743321">
                  <a:moveTo>
                    <a:pt x="4325607" y="1743321"/>
                  </a:moveTo>
                  <a:lnTo>
                    <a:pt x="124460" y="1743321"/>
                  </a:lnTo>
                  <a:cubicBezTo>
                    <a:pt x="55880" y="1743321"/>
                    <a:pt x="0" y="1687441"/>
                    <a:pt x="0" y="161886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325607" y="0"/>
                  </a:lnTo>
                  <a:cubicBezTo>
                    <a:pt x="4394186" y="0"/>
                    <a:pt x="4450067" y="55880"/>
                    <a:pt x="4450067" y="124460"/>
                  </a:cubicBezTo>
                  <a:lnTo>
                    <a:pt x="4450067" y="1618861"/>
                  </a:lnTo>
                  <a:cubicBezTo>
                    <a:pt x="4450067" y="1687441"/>
                    <a:pt x="4394186" y="1743321"/>
                    <a:pt x="4325607" y="1743321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Freeform 6"/>
          <p:cNvSpPr/>
          <p:nvPr/>
        </p:nvSpPr>
        <p:spPr>
          <a:xfrm>
            <a:off x="786214" y="3938492"/>
            <a:ext cx="4337829" cy="3438715"/>
          </a:xfrm>
          <a:custGeom>
            <a:avLst/>
            <a:gdLst/>
            <a:ahLst/>
            <a:cxnLst/>
            <a:rect l="l" t="t" r="r" b="b"/>
            <a:pathLst>
              <a:path w="4337829" h="3438715">
                <a:moveTo>
                  <a:pt x="0" y="0"/>
                </a:moveTo>
                <a:lnTo>
                  <a:pt x="4337829" y="0"/>
                </a:lnTo>
                <a:lnTo>
                  <a:pt x="4337829" y="3438716"/>
                </a:lnTo>
                <a:lnTo>
                  <a:pt x="0" y="34387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23791" y="1028700"/>
            <a:ext cx="140626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Applications of the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24043" y="4213800"/>
            <a:ext cx="12135257" cy="278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1. Market Analysis – Identify trending food items and forecast demand.</a:t>
            </a:r>
          </a:p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2. Customer Insights – Segment customers by satisfaction and behavior.</a:t>
            </a:r>
          </a:p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3. Product &amp; Menu Optimization – Improve or introduce high-performing items.</a:t>
            </a:r>
          </a:p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4. Inventory Management – Align supply with predicted demand; reduce waste.</a:t>
            </a:r>
          </a:p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5. Marketing Strategy – Target promotions based on popular and trending items.</a:t>
            </a:r>
          </a:p>
          <a:p>
            <a:pPr marL="523398" lvl="1" indent="-261699" algn="l">
              <a:lnSpc>
                <a:spcPts val="3636"/>
              </a:lnSpc>
              <a:buFont typeface="Arial"/>
              <a:buChar char="•"/>
            </a:pPr>
            <a:r>
              <a:rPr lang="en-US" sz="2424">
                <a:solidFill>
                  <a:srgbClr val="191919"/>
                </a:solidFill>
                <a:latin typeface="Telegraf"/>
                <a:ea typeface="Telegraf"/>
                <a:cs typeface="Telegraf"/>
                <a:sym typeface="Telegraf"/>
              </a:rPr>
              <a:t>6. Regional Insights – Customize offerings based on location or cultural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28700"/>
            <a:ext cx="146254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80"/>
              </a:lnSpc>
            </a:pPr>
            <a:r>
              <a:rPr lang="en-US" sz="74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Challenges and 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1939" y="3025752"/>
            <a:ext cx="17504122" cy="573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1. Data Quality Issues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Missing values, duplicates, and incomplete records affected precision.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2. Limited Dataset Scope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Lack of demographic or regional attributes restricted deep analysis.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3. Static Dataset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Dashboard used Excel data — no real-time updates or API connections.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4. Subjectivity of Ratings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Customer opinions may not reflect true quality.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5. Technical Complexity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DAX formulas and large datasets increased dashboard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8635" y="1019175"/>
            <a:ext cx="15625447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 and Future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8635" y="2612815"/>
            <a:ext cx="17259300" cy="630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Conclusion: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Power BI effectively revealed patterns in food preferences, pricing, and satisfaction.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Demonstrated the value of analytics in decision-making and trend forecasting.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 b="1">
                <a:solidFill>
                  <a:srgbClr val="19191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Future Enhancements: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Integrate real-time data from food delivery APIs.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Apply machine learning for predictive trend analysis.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Include demographic and regional factors for deeper insights.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Use sentiment analysis on customer reviews for emotional insights.</a:t>
            </a:r>
          </a:p>
          <a:p>
            <a:pPr algn="l">
              <a:lnSpc>
                <a:spcPts val="4560"/>
              </a:lnSpc>
              <a:spcBef>
                <a:spcPct val="0"/>
              </a:spcBef>
            </a:pPr>
            <a:r>
              <a:rPr lang="en-US" sz="3800">
                <a:solidFill>
                  <a:srgbClr val="191919"/>
                </a:solidFill>
                <a:latin typeface="Neue Machina"/>
                <a:ea typeface="Neue Machina"/>
                <a:cs typeface="Neue Machina"/>
                <a:sym typeface="Neue Machina"/>
              </a:rPr>
              <a:t>Expand scope to sustainability and health-based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1495</Words>
  <Application>Microsoft Office PowerPoint</Application>
  <PresentationFormat>Custom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Neue Machina</vt:lpstr>
      <vt:lpstr>Telegraf</vt:lpstr>
      <vt:lpstr>Wingdings</vt:lpstr>
      <vt:lpstr>Arial</vt:lpstr>
      <vt:lpstr>Calibri</vt:lpstr>
      <vt:lpstr>Telegraf Bold</vt:lpstr>
      <vt:lpstr>Neue Machina Ultra-Bold</vt:lpstr>
      <vt:lpstr>Office Theme</vt:lpstr>
      <vt:lpstr>K N Parthiv Rishi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Red Digitalism Food Daily Weekly Monthly Planner Planner Presentation</dc:title>
  <cp:lastModifiedBy>Parthiv Rishi</cp:lastModifiedBy>
  <cp:revision>1</cp:revision>
  <dcterms:created xsi:type="dcterms:W3CDTF">2006-08-16T00:00:00Z</dcterms:created>
  <dcterms:modified xsi:type="dcterms:W3CDTF">2025-11-03T15:13:24Z</dcterms:modified>
  <dc:identifier>DAG1yQjPYhc</dc:identifier>
</cp:coreProperties>
</file>