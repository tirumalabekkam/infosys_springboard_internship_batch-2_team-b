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71" r:id="rId15"/>
    <p:sldId id="273" r:id="rId16"/>
    <p:sldId id="272" r:id="rId17"/>
    <p:sldId id="274" r:id="rId18"/>
    <p:sldId id="275" r:id="rId19"/>
    <p:sldId id="266" r:id="rId20"/>
    <p:sldId id="276" r:id="rId21"/>
    <p:sldId id="267" r:id="rId22"/>
  </p:sldIdLst>
  <p:sldSz cx="18288000" cy="10287000"/>
  <p:notesSz cx="6858000" cy="9144000"/>
  <p:embeddedFontLst>
    <p:embeddedFont>
      <p:font typeface="Futura Bold" panose="020B0604020202020204" charset="0"/>
      <p:regular r:id="rId23"/>
    </p:embeddedFont>
    <p:embeddedFont>
      <p:font typeface="Times New Roman Bold" panose="02020803070505020304" pitchFamily="18" charset="0"/>
      <p:bold r:id="rId24"/>
    </p:embeddedFont>
    <p:embeddedFont>
      <p:font typeface="Varela Round" panose="00000500000000000000" pitchFamily="2" charset="-79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5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7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43000" y="3879317"/>
            <a:ext cx="16116300" cy="41850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9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Food Trends Understanding Customer Preferences in Food &amp; Beverage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46158" y="6584199"/>
            <a:ext cx="6995684" cy="494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99"/>
              </a:lnSpc>
            </a:pPr>
            <a:endParaRPr lang="en-US" sz="3699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23B1518-ED85-D7A9-10A7-4403A5670E6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6818" y="86829"/>
            <a:ext cx="8603241" cy="20270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76A63C2-855C-F57A-6C41-4AEAE72DDD36}"/>
              </a:ext>
            </a:extLst>
          </p:cNvPr>
          <p:cNvSpPr txBox="1"/>
          <p:nvPr/>
        </p:nvSpPr>
        <p:spPr>
          <a:xfrm>
            <a:off x="6324600" y="2476500"/>
            <a:ext cx="5486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6.0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352800" y="1230515"/>
            <a:ext cx="11277600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TEAM MEMBERS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FE0EC9-0A94-69EE-A432-4EE8BB0F4F24}"/>
              </a:ext>
            </a:extLst>
          </p:cNvPr>
          <p:cNvSpPr txBox="1"/>
          <p:nvPr/>
        </p:nvSpPr>
        <p:spPr>
          <a:xfrm>
            <a:off x="6400800" y="2628900"/>
            <a:ext cx="5867400" cy="620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Tirumala Bekkam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Shivatharani 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Kshitija 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Parthiv Rishi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Maithili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Anjali</a:t>
            </a:r>
          </a:p>
          <a:p>
            <a:pPr marL="342900" indent="-342900">
              <a:buAutoNum type="arabicPeriod"/>
            </a:pPr>
            <a:r>
              <a:rPr lang="en-IN" sz="5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Anish Mane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67200" y="1500672"/>
            <a:ext cx="9356987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INTRODUCTION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504CF-F9AF-4569-DF38-16996C3E7D1D}"/>
              </a:ext>
            </a:extLst>
          </p:cNvPr>
          <p:cNvSpPr txBox="1"/>
          <p:nvPr/>
        </p:nvSpPr>
        <p:spPr>
          <a:xfrm>
            <a:off x="2769394" y="2628901"/>
            <a:ext cx="13308806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analyzing customer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preferences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dietary habits.</a:t>
            </a: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attributes such as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gender, activity level, dietary preference, calories, nutrients, diseases, price, and ratings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gain insights into how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lifestyle, diet type, and pricing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choices and nutritional balance.</a:t>
            </a:r>
          </a:p>
          <a:p>
            <a:endParaRPr lang="en-US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the project aims to identify patterns that can help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healthier and more cost-effective meal 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for different customer segments.</a:t>
            </a:r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0B3EC9AC-2CE5-2714-5EA6-34B4D940768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72580" y="92735"/>
            <a:ext cx="4797674" cy="13071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590800" y="1500672"/>
            <a:ext cx="13258800" cy="975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sz="846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Futura Bold"/>
              <a:cs typeface="Times New Roman" panose="02020603050405020304" pitchFamily="18" charset="0"/>
              <a:sym typeface="Futura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4F82CE-364B-7991-1E13-ABB4AAE5CC8C}"/>
              </a:ext>
            </a:extLst>
          </p:cNvPr>
          <p:cNvSpPr txBox="1"/>
          <p:nvPr/>
        </p:nvSpPr>
        <p:spPr>
          <a:xfrm>
            <a:off x="2769394" y="2705100"/>
            <a:ext cx="14635162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Demographics: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Age, Gender, Height, Weight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Lifestyle: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Activity Level, Daily Calorie Target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Nutrition: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Protein, Fat, Carbohydrates, Sugar, Fiber, Sodium, Calories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Suggestions: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Breakfast, Lunch, Dinner, Snack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 &amp; Cost: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Diseases, Price, Rating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was analyzed using Power BI to create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trend analysis.</a:t>
            </a:r>
          </a:p>
          <a:p>
            <a:endParaRPr lang="en-IN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382E60A3-943D-E7A1-6930-908E5BD9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" name="Picture 19" descr="Logo">
            <a:extLst>
              <a:ext uri="{FF2B5EF4-FFF2-40B4-BE49-F238E27FC236}">
                <a16:creationId xmlns:a16="http://schemas.microsoft.com/office/drawing/2014/main" id="{47096C39-7A83-A4D0-E902-69A3EE24929C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0" y="174892"/>
            <a:ext cx="4865967" cy="132577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62000" y="752479"/>
            <a:ext cx="14990423" cy="193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FOOD TRENDS OVERVIEW</a:t>
            </a:r>
          </a:p>
          <a:p>
            <a:pPr algn="ctr">
              <a:lnSpc>
                <a:spcPts val="7531"/>
              </a:lnSpc>
            </a:pPr>
            <a:endParaRPr lang="en-US" sz="846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Futura Bold"/>
              <a:cs typeface="Times New Roman" panose="02020603050405020304" pitchFamily="18" charset="0"/>
              <a:sym typeface="Futura Bold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7F4F1E-0DC7-6A02-70E2-CA820272C99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31" y="2251405"/>
            <a:ext cx="12954938" cy="72298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28800" y="2756599"/>
            <a:ext cx="14325600" cy="52044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26"/>
              </a:lnSpc>
            </a:pPr>
            <a:endParaRPr lang="en-US" sz="6096" b="1" dirty="0">
              <a:solidFill>
                <a:srgbClr val="034697"/>
              </a:solidFill>
              <a:latin typeface="Futura Bold"/>
              <a:ea typeface="Futura Bold"/>
              <a:cs typeface="Futura Bold"/>
              <a:sym typeface="Futura Bold"/>
            </a:endParaRP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CF755B3D-EFCB-4A3E-D847-BB76CA37B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6341BE-3FD3-0AAC-4DD9-202DCFEE845C}"/>
              </a:ext>
            </a:extLst>
          </p:cNvPr>
          <p:cNvSpPr txBox="1"/>
          <p:nvPr/>
        </p:nvSpPr>
        <p:spPr>
          <a:xfrm>
            <a:off x="1828800" y="2171701"/>
            <a:ext cx="141732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fall in the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–79 age group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distribution is nearly balanced.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calorie intake: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1M+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Donut charts show proportions of macronutrients (Protein, Fat, Carbs).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Lunch Suggestions: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Veggie stir-fry, Vegetarian chili, and 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Vegetarian Pasta</a:t>
            </a: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High-rated breakfast items include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tofu scramble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vegan pancakes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Picture 20" descr="Logo&#10;&#10;Description automatically generated">
            <a:extLst>
              <a:ext uri="{FF2B5EF4-FFF2-40B4-BE49-F238E27FC236}">
                <a16:creationId xmlns:a16="http://schemas.microsoft.com/office/drawing/2014/main" id="{A60C2C1A-C7E0-B5B2-E2CF-143457E5002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71759" y="269004"/>
            <a:ext cx="5034652" cy="13717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775221"/>
            <a:ext cx="16992600" cy="193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DIETARY PREFERENCES &amp; AVERAGES</a:t>
            </a:r>
            <a:endParaRPr lang="en-US" sz="8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Futura Bold"/>
              <a:cs typeface="Times New Roman" panose="02020603050405020304" pitchFamily="18" charset="0"/>
              <a:sym typeface="Futura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55962" y="3677131"/>
            <a:ext cx="6421041" cy="54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410998" y="3677131"/>
            <a:ext cx="6421041" cy="549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endParaRPr lang="en-US" sz="3200" dirty="0">
              <a:solidFill>
                <a:srgbClr val="034697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C374CF-EB8F-F7DA-F155-ABF73DFEE9C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289" y="2670801"/>
            <a:ext cx="13296511" cy="71712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4" name="Picture 13" descr="Logo&#10;&#10;Description automatically generated">
            <a:extLst>
              <a:ext uri="{FF2B5EF4-FFF2-40B4-BE49-F238E27FC236}">
                <a16:creationId xmlns:a16="http://schemas.microsoft.com/office/drawing/2014/main" id="{7DDA4A5B-0A30-D7D8-7B3E-E7742B05C3B6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24581" y="84803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6" name="Rectangle 1">
            <a:extLst>
              <a:ext uri="{FF2B5EF4-FFF2-40B4-BE49-F238E27FC236}">
                <a16:creationId xmlns:a16="http://schemas.microsoft.com/office/drawing/2014/main" id="{12B23774-88CD-42BB-7E8D-B990BC060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55083"/>
            <a:ext cx="127254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calorie average: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2.2K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Protein and fat intake analyzed by gender.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Omnivores have higher disease counts compared to vegans and vegetarians.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Females and males show similar calorie target adherence (around 50% each).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~3, showing moderate satisfaction across diets.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05000" y="613459"/>
            <a:ext cx="13944600" cy="975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NUTRIENTS &amp; DISEASES</a:t>
            </a:r>
            <a:endParaRPr lang="en-US" sz="846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Futura Bold"/>
              <a:cs typeface="Times New Roman" panose="02020603050405020304" pitchFamily="18" charset="0"/>
              <a:sym typeface="Futura Bold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6E0C0A8-AB04-7C54-AA87-4ED8F6365A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045" y="1922486"/>
            <a:ext cx="13384493" cy="76686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499E1CBD-DE45-DEAB-2B46-097D194D447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52593" y="16954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1">
            <a:extLst>
              <a:ext uri="{FF2B5EF4-FFF2-40B4-BE49-F238E27FC236}">
                <a16:creationId xmlns:a16="http://schemas.microsoft.com/office/drawing/2014/main" id="{992EDB34-F254-2108-0369-C655C9504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1804480"/>
            <a:ext cx="13261877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Nutrient distribution analyzed by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level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(Sedentary to Extremely Active).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active individuals consume more protein and carbohydrates.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Disease patterns reveal correlation between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sedentary lifestyle and conditions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diabetes, hypertension, and obesity.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Q&amp;A feature 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for interactive queries like “Show lowest calorie food.”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Height ranges from 150 to 200 CM </a:t>
            </a: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B3CAC-4471-95AB-50E3-42BCB4055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41D31E6-2C0E-FD14-A362-F83C8F2EFB99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E29F5B5-A8E1-6827-AA75-12CAACD1CDFD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30C8E6D-FD25-DDAD-D293-51D2C4FDB894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E27FF52-7B0F-CC5C-6EA6-9453C0669F3A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19A46A7-F641-1D21-647F-96DD42E341EA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4D19B64-A6C4-B9F9-1F4B-1985204045ED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31032B8-4FDB-B31A-78BF-98D7FA77F79A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22C24E7-9BB6-01A9-A95D-B989ED9180C7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C9BBD-714A-1522-97A8-9B92FDFA759E}"/>
              </a:ext>
            </a:extLst>
          </p:cNvPr>
          <p:cNvSpPr txBox="1"/>
          <p:nvPr/>
        </p:nvSpPr>
        <p:spPr>
          <a:xfrm>
            <a:off x="2514600" y="419100"/>
            <a:ext cx="12496799" cy="139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BREAKFAST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B854161-F04E-B7B0-D50A-8AC726CFED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7107" y="2146703"/>
            <a:ext cx="12936755" cy="748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37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776A1-7FA9-39D5-7A4F-C9F1D9F4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2C83F83-1F69-591E-92F0-7DE13808954E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93BC60-4362-55D2-AAD9-43D7019C2F67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1E48E51-4608-0442-6143-6266A346E760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8AEB7A-2112-19FD-BC5E-3F41D0CD5E52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4BC106A-9194-AF9F-6C2B-23A32087ADB5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197F30B-D3D4-F2F9-C92D-7D5D129355AC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E9B6EEA-37FE-7042-73E2-1F411A70E222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E141C8A-4EB6-AAE6-70D7-BD9701922841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78C32A32-0B3E-CA8A-3951-4234C1724553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52593" y="16954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F4E117E1-6AD2-1D06-E876-5DFB4B214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5E47F-1B42-22D3-8153-2B786D01F8F6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6BA93E65-413E-AEE7-CCF7-DB04B27A9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1571384"/>
            <a:ext cx="15316200" cy="9248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Breakfast suggestions were analyzed by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rating, price, calorie, and nutrient composition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Breakfast burrito with beans and veggies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 shows the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highest nutrition value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100 g protein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1740 calories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of sugar vs. price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that most items cluster in the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price range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a balance between sweetness and affordability.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Omnivore and vegetarian options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tend to receive slightly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ratings in low-price categories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strong satisfaction even at lower cost.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Count-of-ages by activity level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breakfast popularity is highest among </a:t>
            </a:r>
            <a:r>
              <a:rPr lang="en-US" alt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moderately and very active individuals</a:t>
            </a:r>
            <a:r>
              <a:rPr lang="en-US" alt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36196085-7A7E-D163-E87D-4404AAB3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746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6C85A1-E985-575E-3975-23AD9975E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85051C-9060-369D-9696-395F7E22F350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F464B5A-C5C8-CD94-0B57-06B0D9936629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360E9C8-3154-B36B-AE82-BF8AB04F4A52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6EFB3C2-E44C-EE14-EAC2-934D6E2B8229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7C8BB5A-890F-0550-3F46-659BA2B43ECD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83D0E4D-BF84-85D3-3201-8DCE5C1CCB21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9649D42-192E-D3E3-7BC5-37BC25DD719A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573D6A7-63BD-0F3D-4FB8-03F538C1928F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A2A03F02-B1E7-C86A-9A4C-40FA97DF1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E60714-6D50-583A-E69D-33A4C337ED51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AA575A9A-2F5E-B943-7231-EF85CE356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DFCD64-BDA5-5C8F-31DF-39C72E0ECC0F}"/>
              </a:ext>
            </a:extLst>
          </p:cNvPr>
          <p:cNvSpPr txBox="1"/>
          <p:nvPr/>
        </p:nvSpPr>
        <p:spPr>
          <a:xfrm>
            <a:off x="609600" y="429906"/>
            <a:ext cx="16078200" cy="2696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3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LIFESTYLE &amp; NUTRITION                 IMPACT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B9E798C-929C-F009-6E61-9B53A4297CC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2889892"/>
            <a:ext cx="13335000" cy="696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71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0EFA5-C5D5-DA2D-230E-FFC412E3A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2C440C-FFEE-161C-2EEA-69F8AACC27AC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E0C40DB-A612-971F-8FBB-1F1F3F629390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8A01F1B-F263-C57F-D7C8-DEEB7F15EC5F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71AD863-3F80-3166-4D25-089D2ADCF16B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ED47076-6EF3-B673-04BC-23C42DED8F99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FD5508E-A504-0F39-EEA2-1595015E0AF7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8A8FB04-84E5-24E1-E32D-74FB9CD0656F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1EC242F-17E7-2CB3-ED71-C79BDCFA3C35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3BF2B64A-34D3-61C2-2591-492BA694E43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52593" y="16954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E2092979-FA29-38E9-2B7F-4E1496B3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A9E5DF-3B2A-D7B4-04A0-8C36B0B42E97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3B925CB8-7E38-85B8-783B-A0AA76E7D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8F26505-D7E1-4D21-9EFF-ACBDB4915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89893"/>
            <a:ext cx="14325600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activity level, calories, BMI, and dietary preference.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active individuals maintain better BMI and balanced calorie intake.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Protein intake highest among omnivores, followed by vegetarians.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82.9%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participants are within their calorie target.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level increases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average BMI tends to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decrease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showing a clear connection between fitness and healthy body composition.</a:t>
            </a:r>
          </a:p>
        </p:txBody>
      </p:sp>
    </p:spTree>
    <p:extLst>
      <p:ext uri="{BB962C8B-B14F-4D97-AF65-F5344CB8AC3E}">
        <p14:creationId xmlns:p14="http://schemas.microsoft.com/office/powerpoint/2010/main" val="133366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776F82-A078-FF0E-5D23-F9E69AA26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92B248-D391-AB90-23FE-311B8870ADEE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F925E12-639F-B9CC-02EF-118E03C4D06D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9333190-B718-7403-5BFE-182D88409DA4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225115-7CC7-231E-7D0E-122D5AB0FD70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CB8A662-0C30-C0B0-26B7-9B7350518748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9D42AB8-115F-E020-9AC8-7EE21EA74227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9EC67F7-9D66-8161-AB1F-F8CEA4F867B8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EF203E2-7E4C-8491-5867-5DD65F6F39AA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586F33B-4495-01B9-C971-20140DAAAA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4DBA0-0FA3-7F49-C32B-5A31A1910B3B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9A1ABC18-5E20-717D-4D8B-296F23A6A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406447-1F9C-CC01-F8C6-880BC44E4785}"/>
              </a:ext>
            </a:extLst>
          </p:cNvPr>
          <p:cNvSpPr txBox="1"/>
          <p:nvPr/>
        </p:nvSpPr>
        <p:spPr>
          <a:xfrm>
            <a:off x="1371600" y="184666"/>
            <a:ext cx="14401800" cy="139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 &amp; Health Insights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CC6AD3-FDF2-7CE5-5DA8-AABC3D59026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567" y="1737287"/>
            <a:ext cx="13146335" cy="735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336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00FCA-75C7-9AE6-F5F8-3AB85C1B1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2FA67A5-9D16-C698-C9D9-F60C15B3037F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23ED9C2-2040-96AA-4828-3F237331390C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CB8F341-7843-3CD9-2053-992CF64E9EFB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CAAA4C9-8396-9E45-DDD8-A5104E7EB7DB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A7809AC-E979-A8F8-4F60-5B959C77833C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1646551-1381-185D-3E3C-9EAEC880F55A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EB9C0D4-A0E3-80F9-B36E-4C07A9C1871A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F96555-A54D-A740-A556-A34A00F2CF50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698F8B82-30FC-98FE-E03B-033E6E2244A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52593" y="16954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629FCD6E-E25F-E747-FFB6-DED8C5772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E012F-5169-5006-CDED-1F64EF48FF1D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3E404103-5B29-045B-0687-B1158D6D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B8768108-D4D5-4D24-15A8-65245713D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4650" y="2106888"/>
            <a:ext cx="1316355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BMI comparison by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 and activity level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Males show slightly higher BMI in sedentary categories.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Nutrient breakdown highlights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carbs and protein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major contributors.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Donut chart shows near-equal distribution of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dietary preference by gender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6530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FC448-2FB1-C9B3-F644-5902CC859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422735F-15C0-AFEE-E447-3FD50AF6BDF2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B2C6C7-8567-D388-8D61-A9C974311806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C8F9D27-17EA-F2F4-03CB-2BCB99EB0CB9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DA6F6B-3040-44DA-4713-7A32082334CD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3F37166-6CBF-ED98-73E4-BD50C823DF20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A5A473A-04EA-36B8-E565-E1449207629D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4FB4DE2-D795-B684-A1D6-7725C44205EC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B65DD83-24C8-F30F-0D6D-5C76C2389388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64834D4-C07B-B6AF-BF64-8DC358C24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DB9ADD-02CC-D8ED-7458-B6DC028FF169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90B3825E-52B1-80B7-7E5F-C1B8D5E77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EF515-FB33-371E-838F-7EA08FB84CD5}"/>
              </a:ext>
            </a:extLst>
          </p:cNvPr>
          <p:cNvSpPr txBox="1"/>
          <p:nvPr/>
        </p:nvSpPr>
        <p:spPr>
          <a:xfrm>
            <a:off x="1295400" y="419100"/>
            <a:ext cx="15011400" cy="139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46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&amp; COST ANALYSIS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E265FA7-3456-AC3E-26DC-075CFE54C8C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527" y="1918851"/>
            <a:ext cx="13222545" cy="73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089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26706B-D139-EC98-152B-3A785665F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C16F99B-0C0E-BD6F-55F8-83509C83A7A8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2FEC17A-12EC-DC18-EA77-6CA8225606A3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AD75414A-5AF7-A3CA-0A8A-42B79DC37907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145B092-4B13-485C-7048-B0CB757AF6FD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894706C-D7CD-C864-E426-47764CDD34BB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EDB65CB-0522-9ABB-3DE7-BD4B7B2CD950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C4F1BCB-9F26-E712-DA17-12C5F4964351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ED22E36-CE25-29EA-0279-862C07192E91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 descr="Logo&#10;&#10;Description automatically generated">
            <a:extLst>
              <a:ext uri="{FF2B5EF4-FFF2-40B4-BE49-F238E27FC236}">
                <a16:creationId xmlns:a16="http://schemas.microsoft.com/office/drawing/2014/main" id="{CB1AE691-A68B-5115-A7FC-D1F173784DD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40" b="21760"/>
          <a:stretch>
            <a:fillRect/>
          </a:stretch>
        </p:blipFill>
        <p:spPr bwMode="auto">
          <a:xfrm>
            <a:off x="-52593" y="16954"/>
            <a:ext cx="4658093" cy="126914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88D73E92-4E29-CA62-108C-48B2F6417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9394" y="4177714"/>
            <a:ext cx="12165806" cy="6309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35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A683B9-BADC-7BD6-601F-0805DC42423A}"/>
              </a:ext>
            </a:extLst>
          </p:cNvPr>
          <p:cNvSpPr txBox="1"/>
          <p:nvPr/>
        </p:nvSpPr>
        <p:spPr>
          <a:xfrm>
            <a:off x="3581400" y="2628900"/>
            <a:ext cx="1097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1" name="Rectangle 7">
            <a:extLst>
              <a:ext uri="{FF2B5EF4-FFF2-40B4-BE49-F238E27FC236}">
                <a16:creationId xmlns:a16="http://schemas.microsoft.com/office/drawing/2014/main" id="{119BD9C8-A102-69E8-F2A2-39EBE209E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B9C0D24-58AA-53FF-0AB9-82F9E3D73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320805"/>
            <a:ext cx="135636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BMI vs. Price Point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diet types.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Carbohydrates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identified as the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cost-efficient nutrient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(lowest cost per gram = 0.90$).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Vegetarian meals show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ratings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 at low and medium price ranges.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Cost-efficient meals can maintain health balance without overspending.</a:t>
            </a:r>
          </a:p>
          <a:p>
            <a:b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808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429000" y="557698"/>
            <a:ext cx="10195187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CONCLUSION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77F5222A-6FDD-328D-06A7-8331C8F2C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805594"/>
            <a:ext cx="1333500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Consumers prefer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balanced, moderately priced meals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Vegans and vegetarians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better calorie control and disease management.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Activity level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directly affects calorie and BMI balance.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Nutritional awareness is higher in people following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 diet plans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dashboards help visualize relationships between </a:t>
            </a:r>
            <a:r>
              <a:rPr kumimoji="0" lang="en-US" altLang="en-US" sz="3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food choice, cost, and health</a:t>
            </a:r>
            <a:r>
              <a:rPr kumimoji="0" lang="en-US" altLang="en-US" sz="35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data-driven insights.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DCA6E-F0AC-7149-B5E9-B41D3753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5D8B1A-A081-09B8-2386-94D6C1806779}"/>
              </a:ext>
            </a:extLst>
          </p:cNvPr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7A32CB-E946-CE35-2DD9-AD1AC8D7267B}"/>
              </a:ext>
            </a:extLst>
          </p:cNvPr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EA92E92-5DCD-D516-62A9-FF5DC7F4D615}"/>
              </a:ext>
            </a:extLst>
          </p:cNvPr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4C9A3EF-4082-D139-70AE-516175763106}"/>
              </a:ext>
            </a:extLst>
          </p:cNvPr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AFAAFFF-B341-8A93-50AD-E3314D08CE17}"/>
              </a:ext>
            </a:extLst>
          </p:cNvPr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8986486-C06F-11A3-D561-E97210349A00}"/>
              </a:ext>
            </a:extLst>
          </p:cNvPr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045DB4B-B8FD-DC6D-7D95-F3D34F4BED42}"/>
              </a:ext>
            </a:extLst>
          </p:cNvPr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236507F-17E4-C942-00AB-A35FBA090AAC}"/>
              </a:ext>
            </a:extLst>
          </p:cNvPr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4D62CB9-D5DF-8970-05CC-C100AA6F79B6}"/>
              </a:ext>
            </a:extLst>
          </p:cNvPr>
          <p:cNvSpPr txBox="1"/>
          <p:nvPr/>
        </p:nvSpPr>
        <p:spPr>
          <a:xfrm>
            <a:off x="3429000" y="557698"/>
            <a:ext cx="10195187" cy="9757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531"/>
              </a:lnSpc>
            </a:pPr>
            <a:r>
              <a:rPr lang="en-US" sz="8462" b="1" dirty="0">
                <a:solidFill>
                  <a:srgbClr val="034697"/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FUTURE SCOPE</a:t>
            </a: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9DB9DC3-EEC1-FFC6-8091-814989847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2392909"/>
            <a:ext cx="13182600" cy="6586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food tracking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customer feedback analytics.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meal plans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machine learning.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research to include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food preferences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dashboard</a:t>
            </a:r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health insights.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</a:t>
            </a: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AI-driven recommendations</a:t>
            </a: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pricing and menu optimization.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3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2928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7259300" y="3611365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4257262" y="-3201368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038967" y="7841433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1784500" y="1028700"/>
            <a:ext cx="2813200" cy="5646935"/>
          </a:xfrm>
          <a:custGeom>
            <a:avLst/>
            <a:gdLst/>
            <a:ahLst/>
            <a:cxnLst/>
            <a:rect l="l" t="t" r="r" b="b"/>
            <a:pathLst>
              <a:path w="2813200" h="5646935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926064" y="7429986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7259300" y="557698"/>
            <a:ext cx="1954764" cy="2437914"/>
          </a:xfrm>
          <a:custGeom>
            <a:avLst/>
            <a:gdLst/>
            <a:ahLst/>
            <a:cxnLst/>
            <a:rect l="l" t="t" r="r" b="b"/>
            <a:pathLst>
              <a:path w="1954764" h="243791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373350" y="557698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V="1">
            <a:off x="883444" y="8924925"/>
            <a:ext cx="1885950" cy="942975"/>
          </a:xfrm>
          <a:custGeom>
            <a:avLst/>
            <a:gdLst/>
            <a:ahLst/>
            <a:cxnLst/>
            <a:rect l="l" t="t" r="r" b="b"/>
            <a:pathLst>
              <a:path w="1885950" h="942975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981200" y="4305300"/>
            <a:ext cx="15087600" cy="14427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sz="12479" b="1" dirty="0">
                <a:solidFill>
                  <a:srgbClr val="034697"/>
                </a:solidFill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727</Words>
  <Application>Microsoft Office PowerPoint</Application>
  <PresentationFormat>Custom</PresentationFormat>
  <Paragraphs>125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Times New Roman</vt:lpstr>
      <vt:lpstr>Arial</vt:lpstr>
      <vt:lpstr>Calibri</vt:lpstr>
      <vt:lpstr>Varela Round</vt:lpstr>
      <vt:lpstr>Futura Bold</vt:lpstr>
      <vt:lpstr>Times New Roman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Simple Geometric Project Presentation</dc:title>
  <cp:lastModifiedBy>Tirumala Bekkam</cp:lastModifiedBy>
  <cp:revision>5</cp:revision>
  <dcterms:created xsi:type="dcterms:W3CDTF">2006-08-16T00:00:00Z</dcterms:created>
  <dcterms:modified xsi:type="dcterms:W3CDTF">2025-11-02T14:52:06Z</dcterms:modified>
  <dc:identifier>DAG3gqbnt_k</dc:identifier>
</cp:coreProperties>
</file>